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xml" ContentType="application/xml"/>
  <Default Extension="rels" ContentType="application/vnd.openxmlformats-package.relationships+xml"/>
  <Override PartName="/ppt/notesSlides/notesSlide1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2.xml" ContentType="application/vnd.openxmlformats-officedocument.theme+xml"/>
  <Override PartName="/ppt/notesSlides/notesSlide1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7.xml" ContentType="application/vnd.openxmlformats-officedocument.presentationml.notes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22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Slides/notesSlide12.xml" ContentType="application/vnd.openxmlformats-officedocument.presentationml.notes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0.xml" ContentType="application/vnd.openxmlformats-officedocument.presentationml.slideLayout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1.xml" ContentType="application/vnd.openxmlformats-officedocument.presentationml.notes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4.xml" ContentType="application/vnd.openxmlformats-officedocument.presentationml.notes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Layouts/slideLayout7.xml" ContentType="application/vnd.openxmlformats-officedocument.presentationml.slideLayout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slideLayouts/slideLayout4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2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embeddedFontLst>
    <p:embeddedFont>
      <p:font typeface="微软雅黑"/>
      <p:regular r:id="rId24"/>
    </p:embeddedFont>
    <p:embeddedFont>
      <p:font typeface="思源黑体 CN Normal"/>
      <p:regular r:id="rId25"/>
    </p:embeddedFont>
    <p:embeddedFont>
      <p:font typeface="等线" charset="0"/>
      <p:regular r:id="rId26"/>
    </p:embeddedFont>
    <p:embeddedFont>
      <p:font typeface="等线 Light" charset="0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0" Type="http://schemas.openxmlformats.org/officeDocument/2006/relationships/viewProps" Target="viewProps.xml" /><Relationship Id="rId7" Type="http://schemas.openxmlformats.org/officeDocument/2006/relationships/slide" Target="slides/slide7.xml" /><Relationship Id="rId3" Type="http://schemas.openxmlformats.org/officeDocument/2006/relationships/slide" Target="slides/slide3.xml" /><Relationship Id="rId29" Type="http://schemas.openxmlformats.org/officeDocument/2006/relationships/tableStyles" Target="tableStyles.xml" /><Relationship Id="rId1" Type="http://schemas.openxmlformats.org/officeDocument/2006/relationships/slide" Target="slides/slide1.xml" /><Relationship Id="rId22" Type="http://schemas.openxmlformats.org/officeDocument/2006/relationships/slide" Target="slides/slide22.xml" /><Relationship Id="rId28" Type="http://schemas.openxmlformats.org/officeDocument/2006/relationships/presProps" Target="presProps.xml" /><Relationship Id="rId10" Type="http://schemas.openxmlformats.org/officeDocument/2006/relationships/slide" Target="slides/slide10.xml" /><Relationship Id="rId26" Type="http://schemas.openxmlformats.org/officeDocument/2006/relationships/font" Target="fonts/font3.fntdata" /><Relationship Id="rId23" Type="http://schemas.openxmlformats.org/officeDocument/2006/relationships/notesMaster" Target="notesMasters/notesMaster1.xml" /><Relationship Id="rId17" Type="http://schemas.openxmlformats.org/officeDocument/2006/relationships/slide" Target="slides/slide17.xml" /><Relationship Id="rId21" Type="http://schemas.openxmlformats.org/officeDocument/2006/relationships/slide" Target="slides/slide21.xml" /><Relationship Id="rId20" Type="http://schemas.openxmlformats.org/officeDocument/2006/relationships/slide" Target="slides/slide20.xml" /><Relationship Id="rId13" Type="http://schemas.openxmlformats.org/officeDocument/2006/relationships/slide" Target="slides/slide13.xml" /><Relationship Id="rId19" Type="http://schemas.openxmlformats.org/officeDocument/2006/relationships/slide" Target="slides/slide19.xml" /><Relationship Id="rId12" Type="http://schemas.openxmlformats.org/officeDocument/2006/relationships/slide" Target="slides/slide12.xml" /><Relationship Id="rId16" Type="http://schemas.openxmlformats.org/officeDocument/2006/relationships/slide" Target="slides/slide16.xml" /><Relationship Id="rId15" Type="http://schemas.openxmlformats.org/officeDocument/2006/relationships/slide" Target="slides/slide15.xml" /><Relationship Id="rId27" Type="http://schemas.openxmlformats.org/officeDocument/2006/relationships/font" Target="fonts/font4.fntdata" /><Relationship Id="rId14" Type="http://schemas.openxmlformats.org/officeDocument/2006/relationships/slide" Target="slides/slide14.xml" /><Relationship Id="rId18" Type="http://schemas.openxmlformats.org/officeDocument/2006/relationships/slide" Target="slides/slide18.xml" /><Relationship Id="rId2" Type="http://schemas.openxmlformats.org/officeDocument/2006/relationships/slide" Target="slides/slide2.xml" /><Relationship Id="rId6" Type="http://schemas.openxmlformats.org/officeDocument/2006/relationships/slide" Target="slides/slide6.xml" /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25" Type="http://schemas.openxmlformats.org/officeDocument/2006/relationships/font" Target="fonts/font2.fntdata" /><Relationship Id="rId24" Type="http://schemas.openxmlformats.org/officeDocument/2006/relationships/font" Target="fonts/font1.fntdata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3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4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5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6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7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8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9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0.xml" 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1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2.xml" 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.xml" 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.xml" 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[Sources]</a:t>
            </a:r>
            <a:endParaRPr/>
          </a:p>
          <a:p>
            <a:pPr/>
            <a:r>
              <a:rPr/>
              <a:t>- 用户确认的开营直播大纲与项目预期口径，2026-08-04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[Sources]</a:t>
            </a:r>
            <a:endParaRPr/>
          </a:p>
          <a:p>
            <a:pPr/>
            <a:r>
              <a:rPr/>
              <a:t>- /Users/wangguoqing/Documents/shengcai-obsidian-codex-course/关卡1_定位_确定赛道与完成账号包装_逐字稿_v0.1.md</a:t>
            </a:r>
            <a:endParaRPr/>
          </a:p>
        </p:txBody>
      </p:sp>
      <p:sp>
        <p:nvSpPr>
          <p:cNvPr id="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[Sources]</a:t>
            </a:r>
            <a:endParaRPr/>
          </a:p>
          <a:p>
            <a:pPr/>
            <a:r>
              <a:rPr/>
              <a:t>- /Users/wangguoqing/Documents/shengcai-obsidian-codex-course/关卡2_素材库_搜集对标账号与内容_逐字稿_v0.2.md</a:t>
            </a:r>
            <a:endParaRPr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[Sources]</a:t>
            </a:r>
            <a:endParaRPr/>
          </a:p>
          <a:p>
            <a:pPr/>
            <a:r>
              <a:rPr/>
              <a:t>- /Users/wangguoqing/Documents/shengcai-obsidian-codex-course/关卡4_规律提取_从高赞内容中提炼可复用结构_逐字稿_v0.1.md</a:t>
            </a:r>
            <a:endParaRPr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[Sources]</a:t>
            </a:r>
            <a:endParaRPr/>
          </a:p>
          <a:p>
            <a:pPr/>
            <a:r>
              <a:rPr/>
              <a:t>- /Users/wangguoqing/Documents/shengcai-obsidian-codex-course/关卡3_选题生成_确定第一批能写的选题_逐字稿_v0.1.md</a:t>
            </a:r>
            <a:endParaRPr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[Sources]</a:t>
            </a:r>
            <a:endParaRPr/>
          </a:p>
          <a:p>
            <a:pPr/>
            <a:r>
              <a:rPr/>
              <a:t>- /Users/wangguoqing/Documents/shengcai-obsidian-codex-course/关卡5_内容创作_完成第一篇小红书内容_逐字稿_v0.1.md</a:t>
            </a:r>
            <a:endParaRPr/>
          </a:p>
        </p:txBody>
      </p:sp>
      <p:sp>
        <p:nvSpPr>
          <p:cNvPr id="2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[Sources]</a:t>
            </a:r>
            <a:endParaRPr/>
          </a:p>
          <a:p>
            <a:pPr/>
            <a:r>
              <a:rPr/>
              <a:t>- 用户确认的开营直播大纲与项目预期口径，2026-08-04</a:t>
            </a:r>
            <a:endParaRPr/>
          </a:p>
        </p:txBody>
      </p:sp>
      <p:sp>
        <p:nvSpPr>
          <p:cNvPr id="2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[Sources]</a:t>
            </a:r>
            <a:endParaRPr/>
          </a:p>
          <a:p>
            <a:pPr/>
            <a:r>
              <a:rPr/>
              <a:t>- 用户确认的开营直播大纲与项目预期口径，2026-08-04</a:t>
            </a:r>
            <a:endParaRPr/>
          </a:p>
          <a:p>
            <a:pPr/>
            <a:r>
              <a:rPr/>
              <a:t>- /Users/wangguoqing/Documents/shengcai-obsidian-codex-course/关卡2_素材库_搜集对标账号与内容_逐字稿_v0.2.md</a:t>
            </a:r>
            <a:endParaRPr/>
          </a:p>
          <a:p>
            <a:pPr/>
            <a:r>
              <a:rPr/>
              <a:t>- /Users/wangguoqing/Documents/shengcai-obsidian-codex-course/关卡3_选题生成_确定第一批能写的选题_逐字稿_v0.1.md</a:t>
            </a:r>
            <a:endParaRPr/>
          </a:p>
          <a:p>
            <a:pPr/>
            <a:r>
              <a:rPr/>
              <a:t>- /Users/wangguoqing/Documents/shengcai-obsidian-codex-course/关卡4_规律提取_从高赞内容中提炼可复用结构_逐字稿_v0.1.md</a:t>
            </a:r>
            <a:endParaRPr/>
          </a:p>
          <a:p>
            <a:pPr/>
            <a:r>
              <a:rPr/>
              <a:t>- /Users/wangguoqing/Documents/shengcai-obsidian-codex-course/关卡5_内容创作_完成第一篇小红书内容_逐字稿_v0.1.md</a:t>
            </a:r>
            <a:endParaRPr/>
          </a:p>
        </p:txBody>
      </p:sp>
      <p:sp>
        <p:nvSpPr>
          <p:cNvPr id="3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[Sources]</a:t>
            </a:r>
            <a:endParaRPr/>
          </a:p>
          <a:p>
            <a:pPr/>
            <a:r>
              <a:rPr/>
              <a:t>- 用户确认的开营直播大纲与项目预期口径，2026-08-04</a:t>
            </a:r>
            <a:endParaRPr/>
          </a:p>
        </p:txBody>
      </p:sp>
      <p:sp>
        <p:nvSpPr>
          <p:cNvPr id="3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[Sources]</a:t>
            </a:r>
            <a:endParaRPr/>
          </a:p>
          <a:p>
            <a:pPr/>
            <a:r>
              <a:rPr/>
              <a:t>- 用户确认的开营直播大纲与项目预期口径，2026-08-04</a:t>
            </a:r>
            <a:endParaRPr/>
          </a:p>
          <a:p>
            <a:pPr/>
            <a:r>
              <a:rPr/>
              <a:t>
- OpenAI image generation, 2026-08-04. Prompt: Interchangeable AI and business input modules plug into one reusable workflow and produce article, social post and video formats; teal and ochre editorial isometric 3D; no text.</a:t>
            </a:r>
            <a:endParaRPr/>
          </a:p>
        </p:txBody>
      </p:sp>
      <p:sp>
        <p:nvSpPr>
          <p:cNvPr id="4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[Sources]</a:t>
            </a:r>
            <a:endParaRPr/>
          </a:p>
          <a:p>
            <a:pPr/>
            <a:r>
              <a:rPr/>
              <a:t>- 用户确认的开营直播大纲与项目预期口径，2026-08-04</a:t>
            </a:r>
            <a:endParaRPr/>
          </a:p>
          <a:p>
            <a:pPr/>
            <a:r>
              <a:rPr/>
              <a:t>- /Users/wangguoqing/Documents/shengcai-obsidian-codex-course/关卡1_定位_确定赛道与完成账号包装_逐字稿_v0.1.md</a:t>
            </a:r>
            <a:endParaRPr/>
          </a:p>
        </p:txBody>
      </p:sp>
      <p:sp>
        <p:nvSpPr>
          <p:cNvPr id="4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[Sources]</a:t>
            </a:r>
            <a:endParaRPr/>
          </a:p>
          <a:p>
            <a:pPr/>
            <a:r>
              <a:rPr/>
              <a:t>- 用户确认的开营直播大纲与项目预期口径，2026-08-04</a:t>
            </a:r>
            <a:endParaRPr/>
          </a:p>
        </p:txBody>
      </p:sp>
      <p:sp>
        <p:nvSpPr>
          <p:cNvPr id="4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[Sources]</a:t>
            </a:r>
            <a:endParaRPr/>
          </a:p>
          <a:p>
            <a:pPr/>
            <a:r>
              <a:rPr/>
              <a:t>- 用户确认的开营直播大纲与项目预期口径，2026-08-04</a:t>
            </a:r>
            <a:endParaRPr/>
          </a:p>
          <a:p>
            <a:pPr/>
            <a:r>
              <a:rPr/>
              <a:t>- /Users/wangguoqing/Documents/shengcai-obsidian-codex-course/关卡5_内容创作_完成第一篇小红书内容_逐字稿_v0.1.md</a:t>
            </a:r>
            <a:endParaRPr/>
          </a:p>
        </p:txBody>
      </p:sp>
      <p:sp>
        <p:nvSpPr>
          <p:cNvPr id="5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[Sources]</a:t>
            </a:r>
            <a:endParaRPr/>
          </a:p>
          <a:p>
            <a:pPr/>
            <a:r>
              <a:rPr/>
              <a:t>- 用户确认的开营直播大纲与项目预期口径，2026-08-04</a:t>
            </a:r>
            <a:endParaRPr/>
          </a:p>
        </p:txBody>
      </p:sp>
      <p:sp>
        <p:nvSpPr>
          <p:cNvPr id="5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[Sources]</a:t>
            </a:r>
            <a:endParaRPr/>
          </a:p>
          <a:p>
            <a:pPr/>
            <a:r>
              <a:rPr/>
              <a:t>- 用户确认的开营直播大纲与项目预期口径，2026-08-04</a:t>
            </a:r>
            <a:endParaRPr/>
          </a:p>
        </p:txBody>
      </p:sp>
      <p:sp>
        <p:nvSpPr>
          <p:cNvPr id="6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[Sources]</a:t>
            </a:r>
            <a:endParaRPr/>
          </a:p>
          <a:p>
            <a:pPr/>
            <a:r>
              <a:rPr/>
              <a:t>- 用户确认的开营直播大纲与项目预期口径，2026-08-04</a:t>
            </a:r>
            <a:endParaRPr/>
          </a:p>
          <a:p>
            <a:pPr/>
            <a:r>
              <a:rPr/>
              <a:t>- /Users/wangguoqing/Documents/shengcai-obsidian-codex-course/关卡2_素材库_搜集对标账号与内容_逐字稿_v0.2.md</a:t>
            </a:r>
            <a:endParaRPr/>
          </a:p>
          <a:p>
            <a:pPr/>
            <a:r>
              <a:rPr/>
              <a:t>- /Users/wangguoqing/Documents/shengcai-obsidian-codex-course/关卡3_选题生成_确定第一批能写的选题_逐字稿_v0.1.md</a:t>
            </a:r>
            <a:endParaRPr/>
          </a:p>
          <a:p>
            <a:pPr/>
            <a:r>
              <a:rPr/>
              <a:t>
- OpenAI image generation, 2026-08-04. Prompt: Scattered chat cards, duplicated documents and a person repeatedly carrying context into chat; teal and ochre editorial isometric 3D; no text.</a:t>
            </a:r>
            <a:endParaRPr/>
          </a:p>
        </p:txBody>
      </p:sp>
      <p:sp>
        <p:nvSpPr>
          <p:cNvPr id="6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6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[Sources]</a:t>
            </a:r>
            <a:endParaRPr/>
          </a:p>
          <a:p>
            <a:pPr/>
            <a:r>
              <a:rPr/>
              <a:t>- 用户确认的开营直播大纲与项目预期口径，2026-08-04</a:t>
            </a:r>
            <a:endParaRPr/>
          </a:p>
          <a:p>
            <a:pPr/>
            <a:r>
              <a:rPr/>
              <a:t>- /Users/wangguoqing/Documents/shengcai-obsidian-codex-course/关卡1_定位_确定赛道与完成账号包装_逐字稿_v0.1.md</a:t>
            </a:r>
            <a:endParaRPr/>
          </a:p>
          <a:p>
            <a:pPr/>
            <a:r>
              <a:rPr/>
              <a:t>- /Users/wangguoqing/Documents/shengcai-obsidian-codex-course/关卡5_内容创作_完成第一篇小红书内容_逐字稿_v0.1.md</a:t>
            </a:r>
            <a:endParaRPr/>
          </a:p>
        </p:txBody>
      </p:sp>
      <p:sp>
        <p:nvSpPr>
          <p:cNvPr id="6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[Sources]</a:t>
            </a:r>
            <a:endParaRPr/>
          </a:p>
          <a:p>
            <a:pPr/>
            <a:r>
              <a:rPr/>
              <a:t>- 用户确认的开营直播大纲与项目预期口径，2026-08-04</a:t>
            </a:r>
            <a:endParaRPr/>
          </a:p>
        </p:txBody>
      </p:sp>
      <p:sp>
        <p:nvSpPr>
          <p:cNvPr id="7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7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[Sources]</a:t>
            </a:r>
            <a:endParaRPr/>
          </a:p>
          <a:p>
            <a:pPr/>
            <a:r>
              <a:rPr/>
              <a:t>- 用户确认的开营直播大纲与项目预期口径，2026-08-04</a:t>
            </a:r>
            <a:endParaRPr/>
          </a:p>
          <a:p>
            <a:pPr/>
            <a:r>
              <a:rPr/>
              <a:t>- /Users/wangguoqing/Documents/shengcai-obsidian-codex-course/关卡2_素材库_搜集对标账号与内容_逐字稿_v0.2.md</a:t>
            </a:r>
            <a:endParaRPr/>
          </a:p>
          <a:p>
            <a:pPr/>
            <a:r>
              <a:rPr/>
              <a:t>- /Users/wangguoqing/Documents/shengcai-obsidian-codex-course/关卡3_选题生成_确定第一批能写的选题_逐字稿_v0.1.md</a:t>
            </a:r>
            <a:endParaRPr/>
          </a:p>
          <a:p>
            <a:pPr/>
            <a:r>
              <a:rPr/>
              <a:t>- /Users/wangguoqing/Documents/shengcai-obsidian-codex-course/关卡4_规律提取_从高赞内容中提炼可复用结构_逐字稿_v0.1.md</a:t>
            </a:r>
            <a:endParaRPr/>
          </a:p>
          <a:p>
            <a:pPr/>
            <a:r>
              <a:rPr/>
              <a:t>
- OpenAI image generation, 2026-08-04. Prompt: Connected knowledge vault, AI execution assistant, reusable workflow gear and human reviewer; teal and ochre editorial isometric 3D; no text.</a:t>
            </a:r>
            <a:endParaRPr/>
          </a:p>
        </p:txBody>
      </p:sp>
      <p:sp>
        <p:nvSpPr>
          <p:cNvPr id="7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7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[Sources]</a:t>
            </a:r>
            <a:endParaRPr/>
          </a:p>
          <a:p>
            <a:pPr/>
            <a:r>
              <a:rPr/>
              <a:t>- 用户确认的开营直播大纲与项目预期口径，2026-08-04</a:t>
            </a:r>
            <a:endParaRPr/>
          </a:p>
        </p:txBody>
      </p:sp>
      <p:sp>
        <p:nvSpPr>
          <p:cNvPr id="8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[Sources]</a:t>
            </a:r>
            <a:endParaRPr/>
          </a:p>
          <a:p>
            <a:pPr/>
            <a:r>
              <a:rPr/>
              <a:t>- 用户确认的开营直播大纲与项目预期口径，2026-08-04</a:t>
            </a:r>
            <a:endParaRPr/>
          </a:p>
          <a:p>
            <a:pPr/>
            <a:r>
              <a:rPr/>
              <a:t>- /Users/wangguoqing/Documents/shengcai-obsidian-codex-course/关卡1_定位_确定赛道与完成账号包装_逐字稿_v0.1.md</a:t>
            </a:r>
            <a:endParaRPr/>
          </a:p>
          <a:p>
            <a:pPr/>
            <a:r>
              <a:rPr/>
              <a:t>- /Users/wangguoqing/Documents/shengcai-obsidian-codex-course/关卡2_素材库_搜集对标账号与内容_逐字稿_v0.2.md</a:t>
            </a:r>
            <a:endParaRPr/>
          </a:p>
          <a:p>
            <a:pPr/>
            <a:r>
              <a:rPr/>
              <a:t>- /Users/wangguoqing/Documents/shengcai-obsidian-codex-course/关卡3_选题生成_确定第一批能写的选题_逐字稿_v0.1.md</a:t>
            </a:r>
            <a:endParaRPr/>
          </a:p>
          <a:p>
            <a:pPr/>
            <a:r>
              <a:rPr/>
              <a:t>- /Users/wangguoqing/Documents/shengcai-obsidian-codex-course/关卡4_规律提取_从高赞内容中提炼可复用结构_逐字稿_v0.1.md</a:t>
            </a:r>
            <a:endParaRPr/>
          </a:p>
          <a:p>
            <a:pPr/>
            <a:r>
              <a:rPr/>
              <a:t>- /Users/wangguoqing/Documents/shengcai-obsidian-codex-course/关卡5_内容创作_完成第一篇小红书内容_逐字稿_v0.1.md</a:t>
            </a:r>
            <a:endParaRPr/>
          </a:p>
          <a:p>
            <a:pPr/>
            <a:r>
              <a:rPr/>
              <a:t>
- OpenAI image generation, 2026-08-04. Prompt: Six connected stations for positioning, materials, topic, pattern, drafting and review analytics, with a feedback loop; teal and ochre editorial isometric 3D; no text.</a:t>
            </a:r>
            <a:endParaRPr/>
          </a:p>
        </p:txBody>
      </p:sp>
      <p:sp>
        <p:nvSpPr>
          <p:cNvPr id="8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pPr/>
            <a:r>
              <a:rPr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/>
            <a:r>
              <a:rPr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/>
              <a:t>单击此处编辑母版文本样式</a:t>
            </a:r>
            <a:endParaRPr/>
          </a:p>
          <a:p>
            <a:pPr lvl="1">
              <a:buNone/>
            </a:pPr>
            <a:r>
              <a:rPr/>
              <a:t>二级</a:t>
            </a:r>
            <a:endParaRPr/>
          </a:p>
          <a:p>
            <a:pPr lvl="2">
              <a:buNone/>
            </a:pPr>
            <a:r>
              <a:rPr/>
              <a:t>三级</a:t>
            </a:r>
            <a:endParaRPr/>
          </a:p>
          <a:p>
            <a:pPr lvl="3">
              <a:buNone/>
            </a:pPr>
            <a:r>
              <a:rPr/>
              <a:t>四级</a:t>
            </a:r>
            <a:endParaRPr/>
          </a:p>
          <a:p>
            <a:pPr lvl="4">
              <a:buNone/>
            </a:pPr>
            <a:r>
              <a:rPr/>
              <a:t>五级</a:t>
            </a:r>
            <a:endParaRPr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pPr/>
            <a:r>
              <a:rPr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rPr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rPr/>
              <a:t>单击此处编辑母版文本样式</a:t>
            </a:r>
            <a:endParaRPr/>
          </a:p>
          <a:p>
            <a:pPr lvl="1">
              <a:buNone/>
            </a:pPr>
            <a:r>
              <a:rPr/>
              <a:t>二级</a:t>
            </a:r>
            <a:endParaRPr/>
          </a:p>
          <a:p>
            <a:pPr lvl="2">
              <a:buNone/>
            </a:pPr>
            <a:r>
              <a:rPr/>
              <a:t>三级</a:t>
            </a:r>
            <a:endParaRPr/>
          </a:p>
          <a:p>
            <a:pPr lvl="3">
              <a:buNone/>
            </a:pPr>
            <a:r>
              <a:rPr/>
              <a:t>四级</a:t>
            </a:r>
            <a:endParaRPr/>
          </a:p>
          <a:p>
            <a:pPr lvl="4">
              <a:buNone/>
            </a:pPr>
            <a:r>
              <a:rPr/>
              <a:t>五级</a:t>
            </a:r>
            <a:endParaRPr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rPr/>
              <a:t>单击此处编辑母版文本样式</a:t>
            </a:r>
            <a:endParaRPr/>
          </a:p>
          <a:p>
            <a:pPr lvl="1">
              <a:buNone/>
            </a:pPr>
            <a:r>
              <a:rPr/>
              <a:t>二级</a:t>
            </a:r>
            <a:endParaRPr/>
          </a:p>
          <a:p>
            <a:pPr lvl="2">
              <a:buNone/>
            </a:pPr>
            <a:r>
              <a:rPr/>
              <a:t>三级</a:t>
            </a:r>
            <a:endParaRPr/>
          </a:p>
          <a:p>
            <a:pPr lvl="3">
              <a:buNone/>
            </a:pPr>
            <a:r>
              <a:rPr/>
              <a:t>四级</a:t>
            </a:r>
            <a:endParaRPr/>
          </a:p>
          <a:p>
            <a:pPr lvl="4">
              <a:buNone/>
            </a:pPr>
            <a:r>
              <a:rPr/>
              <a:t>五级</a:t>
            </a:r>
            <a:endParaRPr/>
          </a:p>
        </p:txBody>
      </p:sp>
      <p:sp>
        <p:nvSpPr>
          <p:cNvPr id="29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0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/>
            <a:r>
              <a:rPr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rPr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rPr/>
              <a:t>单击此处编辑母版文本样式</a:t>
            </a:r>
            <a:endParaRPr/>
          </a:p>
          <a:p>
            <a:pPr lvl="1">
              <a:buNone/>
            </a:pPr>
            <a:r>
              <a:rPr/>
              <a:t>二级</a:t>
            </a:r>
            <a:endParaRPr/>
          </a:p>
          <a:p>
            <a:pPr lvl="2">
              <a:buNone/>
            </a:pPr>
            <a:r>
              <a:rPr/>
              <a:t>三级</a:t>
            </a:r>
            <a:endParaRPr/>
          </a:p>
          <a:p>
            <a:pPr lvl="3">
              <a:buNone/>
            </a:pPr>
            <a:r>
              <a:rPr/>
              <a:t>四级</a:t>
            </a:r>
            <a:endParaRPr/>
          </a:p>
          <a:p>
            <a:pPr lvl="4">
              <a:buNone/>
            </a:pPr>
            <a:r>
              <a:rPr/>
              <a:t>五级</a:t>
            </a:r>
            <a:endParaRPr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rPr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rPr/>
              <a:t>单击此处编辑母版文本样式</a:t>
            </a:r>
            <a:endParaRPr/>
          </a:p>
          <a:p>
            <a:pPr lvl="1">
              <a:buNone/>
            </a:pPr>
            <a:r>
              <a:rPr/>
              <a:t>二级</a:t>
            </a:r>
            <a:endParaRPr/>
          </a:p>
          <a:p>
            <a:pPr lvl="2">
              <a:buNone/>
            </a:pPr>
            <a:r>
              <a:rPr/>
              <a:t>三级</a:t>
            </a:r>
            <a:endParaRPr/>
          </a:p>
          <a:p>
            <a:pPr lvl="3">
              <a:buNone/>
            </a:pPr>
            <a:r>
              <a:rPr/>
              <a:t>四级</a:t>
            </a:r>
            <a:endParaRPr/>
          </a:p>
          <a:p>
            <a:pPr lvl="4">
              <a:buNone/>
            </a:pPr>
            <a:r>
              <a:rPr/>
              <a:t>五级</a:t>
            </a:r>
            <a:endParaRPr/>
          </a:p>
        </p:txBody>
      </p:sp>
      <p:sp>
        <p:nvSpPr>
          <p:cNvPr id="38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0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pPr/>
            <a:r>
              <a:rPr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rPr/>
              <a:t>单击此处编辑母版文本样式</a:t>
            </a:r>
            <a:endParaRPr/>
          </a:p>
          <a:p>
            <a:pPr lvl="1">
              <a:buNone/>
            </a:pPr>
            <a:r>
              <a:rPr/>
              <a:t>二级</a:t>
            </a:r>
            <a:endParaRPr/>
          </a:p>
          <a:p>
            <a:pPr lvl="2">
              <a:buNone/>
            </a:pPr>
            <a:r>
              <a:rPr/>
              <a:t>三级</a:t>
            </a:r>
            <a:endParaRPr/>
          </a:p>
          <a:p>
            <a:pPr lvl="3">
              <a:buNone/>
            </a:pPr>
            <a:r>
              <a:rPr/>
              <a:t>四级</a:t>
            </a:r>
            <a:endParaRPr/>
          </a:p>
          <a:p>
            <a:pPr lvl="4">
              <a:buNone/>
            </a:pPr>
            <a:r>
              <a:rPr/>
              <a:t>五级</a:t>
            </a:r>
            <a:endParaRPr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rPr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6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pPr/>
            <a:r>
              <a:rPr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rPr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2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rPr/>
              <a:t>单击此处编辑母版文本样式</a:t>
            </a:r>
            <a:endParaRPr/>
          </a:p>
          <a:p>
            <a:pPr lvl="1">
              <a:buNone/>
            </a:pPr>
            <a:r>
              <a:rPr/>
              <a:t>二级</a:t>
            </a:r>
            <a:endParaRPr/>
          </a:p>
          <a:p>
            <a:pPr lvl="2">
              <a:buNone/>
            </a:pPr>
            <a:r>
              <a:rPr/>
              <a:t>三级</a:t>
            </a:r>
            <a:endParaRPr/>
          </a:p>
          <a:p>
            <a:pPr lvl="3">
              <a:buNone/>
            </a:pPr>
            <a:r>
              <a:rPr/>
              <a:t>四级</a:t>
            </a:r>
            <a:endParaRPr/>
          </a:p>
          <a:p>
            <a:pPr lvl="4">
              <a:buNone/>
            </a:pPr>
            <a:r>
              <a:rPr/>
              <a:t>五级</a:t>
            </a:r>
            <a:endParaRPr/>
          </a:p>
        </p:txBody>
      </p:sp>
      <p:sp>
        <p:nvSpPr>
          <p:cNvPr id="67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9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/>
            <a:r>
              <a:rPr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rPr/>
              <a:t>单击此处编辑母版文本样式</a:t>
            </a:r>
            <a:endParaRPr/>
          </a:p>
          <a:p>
            <a:pPr lvl="1">
              <a:buNone/>
            </a:pPr>
            <a:r>
              <a:rPr/>
              <a:t>二级</a:t>
            </a:r>
            <a:endParaRPr/>
          </a:p>
          <a:p>
            <a:pPr lvl="2">
              <a:buNone/>
            </a:pPr>
            <a:r>
              <a:rPr/>
              <a:t>三级</a:t>
            </a:r>
            <a:endParaRPr/>
          </a:p>
          <a:p>
            <a:pPr lvl="3">
              <a:buNone/>
            </a:pPr>
            <a:r>
              <a:rPr/>
              <a:t>四级</a:t>
            </a:r>
            <a:endParaRPr/>
          </a:p>
          <a:p>
            <a:pPr lvl="4">
              <a:buNone/>
            </a:pPr>
            <a:r>
              <a:rPr/>
              <a:t>五级</a:t>
            </a:r>
            <a:endParaRPr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2" Type="http://schemas.openxmlformats.org/officeDocument/2006/relationships/slideLayout" Target="../slideLayouts/slideLayout3.xml" /><Relationship Id="rId12" Type="http://schemas.openxmlformats.org/officeDocument/2006/relationships/image" Target="media/image1.png" /><Relationship Id="rId4" Type="http://schemas.openxmlformats.org/officeDocument/2006/relationships/slideLayout" Target="../slideLayouts/slideLayout5.xml" /><Relationship Id="rId9" Type="http://schemas.openxmlformats.org/officeDocument/2006/relationships/slideLayout" Target="../slideLayouts/slideLayout10.xml" /><Relationship Id="rId0" Type="http://schemas.openxmlformats.org/officeDocument/2006/relationships/slideLayout" Target="../slideLayouts/slideLayout1.xml" /><Relationship Id="rId3" Type="http://schemas.openxmlformats.org/officeDocument/2006/relationships/slideLayout" Target="../slideLayouts/slideLayout4.xml" /><Relationship Id="rId11" Type="http://schemas.openxmlformats.org/officeDocument/2006/relationships/theme" Target="../theme/theme1.xml" /><Relationship Id="rId7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1.xml" /><Relationship Id="rId1" Type="http://schemas.openxmlformats.org/officeDocument/2006/relationships/slideLayout" Target="../slideLayouts/slideLayout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/>
            <a:r>
              <a:rPr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rPr/>
              <a:t>单击此处编辑母版文本样式</a:t>
            </a:r>
            <a:endParaRPr/>
          </a:p>
          <a:p>
            <a:pPr lvl="1">
              <a:buNone/>
            </a:pPr>
            <a:r>
              <a:rPr/>
              <a:t>二级</a:t>
            </a:r>
            <a:endParaRPr/>
          </a:p>
          <a:p>
            <a:pPr lvl="2">
              <a:buNone/>
            </a:pPr>
            <a:r>
              <a:rPr/>
              <a:t>三级</a:t>
            </a:r>
            <a:endParaRPr/>
          </a:p>
          <a:p>
            <a:pPr lvl="3">
              <a:buNone/>
            </a:pPr>
            <a:r>
              <a:rPr/>
              <a:t>四级</a:t>
            </a:r>
            <a:endParaRPr/>
          </a:p>
          <a:p>
            <a:pPr lvl="4">
              <a:buNone/>
            </a:pPr>
            <a:r>
              <a:rPr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2.xml" /><Relationship Id="rId0" Type="http://schemas.openxmlformats.org/officeDocument/2006/relationships/slideLayout" Target="../slideLayouts/slideLayout2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6.xml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7.xml" /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8.xml" /><Relationship Id="rId0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9.xml" /><Relationship Id="rId0" Type="http://schemas.openxmlformats.org/officeDocument/2006/relationships/slideLayout" Target="../slideLayouts/slideLayout2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image" Target="media/image3.png" /><Relationship Id="rId1" Type="http://schemas.openxmlformats.org/officeDocument/2006/relationships/notesSlide" Target="../notesSlides/notesSlide20.xml" /><Relationship Id="rId0" Type="http://schemas.openxmlformats.org/officeDocument/2006/relationships/slideLayout" Target="../slideLayouts/slideLayout2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1.xml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2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2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2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7.xml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8.xml" /><Relationship Id="rId0" Type="http://schemas.openxmlformats.org/officeDocument/2006/relationships/slideLayout" Target="../slideLayouts/slideLayout2.xml" /></Relationships>
</file>

<file path=ppt/slides/_rels/slide17.xml.rels><?xml version="1.0" encoding="UTF-8" standalone="yes"?><Relationships xmlns="http://schemas.openxmlformats.org/package/2006/relationships"><Relationship Id="rId2" Type="http://schemas.openxmlformats.org/officeDocument/2006/relationships/image" Target="media/image3.png" /><Relationship Id="rId1" Type="http://schemas.openxmlformats.org/officeDocument/2006/relationships/notesSlide" Target="../notesSlides/notesSlide9.xml" /><Relationship Id="rId0" Type="http://schemas.openxmlformats.org/officeDocument/2006/relationships/slideLayout" Target="../slideLayouts/slideLayout2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0.xml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1.xml" /><Relationship Id="rId0" Type="http://schemas.openxmlformats.org/officeDocument/2006/relationships/slideLayout" Target="../slideLayouts/slideLayout2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3.xml" /><Relationship Id="rId0" Type="http://schemas.openxmlformats.org/officeDocument/2006/relationships/slideLayout" Target="../slideLayouts/slideLayout2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4.xml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5.xml" /><Relationship Id="rId0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42035" y="2797175"/>
            <a:ext cx="9296400" cy="1015365"/>
          </a:xfrm>
        </p:spPr>
        <p:txBody>
          <a:bodyPr vert="horz" lIns="91440" tIns="45720" rIns="91440" bIns="45720" anchor="b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altLang="zh-CN" sz="6600">
                <a:solidFill>
                  <a:srgbClr val="006659"/>
                </a:solidFill>
                <a:latin typeface="Source Han Sans SC Bold"/>
                <a:ea typeface="Source Han Sans SC Bold"/>
                <a:cs typeface="Source Han Sans SC Bold"/>
              </a:rPr>
              <a:t>AI </a:t>
            </a:r>
            <a:r>
              <a:rPr lang="zh-CN" altLang="en-US" sz="6600">
                <a:solidFill>
                  <a:srgbClr val="006659"/>
                </a:solidFill>
                <a:latin typeface="Source Han Sans SC Bold"/>
                <a:ea typeface="Source Han Sans SC Bold"/>
                <a:cs typeface="Source Han Sans SC Bold"/>
              </a:rPr>
              <a:t>第二大脑</a:t>
            </a:r>
            <a:r>
              <a:rPr lang="en-US" altLang="zh-CN" sz="6600">
                <a:solidFill>
                  <a:srgbClr val="006659"/>
                </a:solidFill>
                <a:latin typeface="Source Han Sans SC Bold"/>
                <a:ea typeface="Source Han Sans SC Bold"/>
                <a:cs typeface="Source Han Sans SC Bold"/>
              </a:rPr>
              <a:t> </a:t>
            </a:r>
            <a:br>
              <a:rPr lang="en-US" altLang="zh-CN" sz="6600">
                <a:solidFill>
                  <a:srgbClr val="006659"/>
                </a:solidFill>
                <a:latin typeface="Source Han Sans SC Bold"/>
                <a:ea typeface="Source Han Sans SC Bold"/>
                <a:cs typeface="Source Han Sans SC Bold"/>
              </a:rPr>
            </a:br>
            <a:r>
              <a:rPr lang="en-US" altLang="zh-CN" sz="6600">
                <a:solidFill>
                  <a:srgbClr val="006659"/>
                </a:solidFill>
                <a:latin typeface="Source Han Sans SC Bold"/>
                <a:ea typeface="Source Han Sans SC Bold"/>
                <a:cs typeface="Source Han Sans SC Bold"/>
              </a:rPr>
              <a:t>- </a:t>
            </a:r>
            <a:r>
              <a:rPr lang="zh-CN" altLang="en-US" sz="6600">
                <a:solidFill>
                  <a:srgbClr val="006659"/>
                </a:solidFill>
                <a:latin typeface="Source Han Sans SC Bold"/>
                <a:ea typeface="Source Han Sans SC Bold"/>
                <a:cs typeface="Source Han Sans SC Bold"/>
              </a:rPr>
              <a:t>内容创作系统</a:t>
            </a:r>
            <a:endParaRPr lang="zh-CN" altLang="en-US" sz="6600">
              <a:solidFill>
                <a:srgbClr val="006659"/>
              </a:solidFill>
              <a:latin typeface="Source Han Sans SC Bold"/>
              <a:ea typeface="Source Han Sans SC Bold"/>
              <a:cs typeface="Source Han Sans SC Bold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36650" y="4192905"/>
            <a:ext cx="8120380" cy="46164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2000">
                <a:solidFill>
                  <a:srgbClr val="006659"/>
                </a:solidFill>
              </a:rPr>
              <a:t>Obsidian + Codex 开营直播</a:t>
            </a:r>
            <a:endParaRPr sz="2000">
              <a:solidFill>
                <a:srgbClr val="0066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文本框 6"/>
          <p:cNvSpPr>
            <a:spLocks noGrp="1"/>
          </p:cNvSpPr>
          <p:nvPr/>
        </p:nvSpPr>
        <p:spPr>
          <a:xfrm>
            <a:off x="1714500" y="2095500"/>
            <a:ext cx="857250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006659"/>
                </a:solidFill>
                <a:latin typeface="微软雅黑"/>
                <a:ea typeface="微软雅黑"/>
                <a:cs typeface="微软雅黑"/>
              </a:rPr>
              <a:t>分享人：</a:t>
            </a:r>
            <a:r>
              <a:rPr lang="zh-CN" sz="4000" b="1">
                <a:solidFill>
                  <a:srgbClr val="006659"/>
                </a:solidFill>
                <a:latin typeface="微软雅黑"/>
                <a:ea typeface="微软雅黑"/>
                <a:cs typeface="微软雅黑"/>
              </a:rPr>
              <a:t>七天假</a:t>
            </a:r>
            <a:endParaRPr lang="zh-CN" sz="4000" b="1">
              <a:solidFill>
                <a:srgbClr val="00665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5" name="矩形 10"/>
          <p:cNvSpPr>
            <a:spLocks noGrp="1"/>
          </p:cNvSpPr>
          <p:nvPr/>
        </p:nvSpPr>
        <p:spPr>
          <a:xfrm>
            <a:off x="1714500" y="3048000"/>
            <a:ext cx="8572500" cy="20955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77000">
                <a:srgbClr val="006659">
                  <a:alpha val="32000"/>
                </a:srgbClr>
              </a:gs>
              <a:gs pos="99000">
                <a:srgbClr val="006659">
                  <a:alpha val="36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" name="文本框 11"/>
          <p:cNvSpPr>
            <a:spLocks noGrp="1"/>
          </p:cNvSpPr>
          <p:nvPr/>
        </p:nvSpPr>
        <p:spPr>
          <a:xfrm>
            <a:off x="2047875" y="3286125"/>
            <a:ext cx="7905750" cy="1420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zh-CN" altLang="en-US" sz="2400">
                <a:solidFill>
                  <a:schemeClr val="bg1"/>
                </a:solidFill>
                <a:latin typeface="思源黑体 CN Normal"/>
                <a:ea typeface="思源黑体 CN Normal"/>
                <a:cs typeface="思源黑体 CN Normal"/>
              </a:rPr>
              <a:t>互联网产品经理</a:t>
            </a:r>
            <a:endParaRPr lang="zh-CN" altLang="en-US" sz="2400">
              <a:solidFill>
                <a:schemeClr val="bg1"/>
              </a:solidFill>
              <a:latin typeface="思源黑体 CN Normal"/>
              <a:ea typeface="思源黑体 CN Normal"/>
              <a:cs typeface="思源黑体 CN Normal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>
                <a:solidFill>
                  <a:schemeClr val="bg1"/>
                </a:solidFill>
                <a:latin typeface="思源黑体 CN Normal"/>
                <a:ea typeface="思源黑体 CN Normal"/>
                <a:cs typeface="思源黑体 CN Normal"/>
              </a:rPr>
              <a:t>6 </a:t>
            </a:r>
            <a:r>
              <a:rPr lang="zh-CN" altLang="en-US" sz="2400">
                <a:solidFill>
                  <a:schemeClr val="bg1"/>
                </a:solidFill>
                <a:latin typeface="思源黑体 CN Normal"/>
                <a:ea typeface="思源黑体 CN Normal"/>
                <a:cs typeface="思源黑体 CN Normal"/>
              </a:rPr>
              <a:t>年自媒体博主经验，小红书</a:t>
            </a:r>
            <a:r>
              <a:rPr lang="en-US" altLang="zh-CN" sz="2400">
                <a:solidFill>
                  <a:schemeClr val="bg1"/>
                </a:solidFill>
                <a:latin typeface="思源黑体 CN Normal"/>
                <a:ea typeface="思源黑体 CN Normal"/>
                <a:cs typeface="思源黑体 CN Normal"/>
              </a:rPr>
              <a:t> 3 </a:t>
            </a:r>
            <a:r>
              <a:rPr lang="zh-CN" altLang="en-US" sz="2400">
                <a:solidFill>
                  <a:schemeClr val="bg1"/>
                </a:solidFill>
                <a:latin typeface="思源黑体 CN Normal"/>
                <a:ea typeface="思源黑体 CN Normal"/>
                <a:cs typeface="思源黑体 CN Normal"/>
              </a:rPr>
              <a:t>万粉博主</a:t>
            </a:r>
            <a:endParaRPr lang="zh-CN" altLang="en-US" sz="2400">
              <a:solidFill>
                <a:schemeClr val="bg1"/>
              </a:solidFill>
              <a:latin typeface="思源黑体 CN Normal"/>
              <a:ea typeface="思源黑体 CN Normal"/>
              <a:cs typeface="思源黑体 CN Normal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400">
                <a:solidFill>
                  <a:schemeClr val="bg1"/>
                </a:solidFill>
                <a:latin typeface="思源黑体 CN Normal"/>
                <a:ea typeface="思源黑体 CN Normal"/>
                <a:cs typeface="思源黑体 CN Normal"/>
              </a:rPr>
              <a:t>单月引流变现</a:t>
            </a:r>
            <a:r>
              <a:rPr lang="en-US" altLang="zh-CN" sz="2400">
                <a:solidFill>
                  <a:schemeClr val="bg1"/>
                </a:solidFill>
                <a:latin typeface="思源黑体 CN Normal"/>
                <a:ea typeface="思源黑体 CN Normal"/>
                <a:cs typeface="思源黑体 CN Normal"/>
              </a:rPr>
              <a:t> 50wGMV</a:t>
            </a:r>
            <a:endParaRPr lang="en-US" altLang="zh-CN" sz="2400">
              <a:solidFill>
                <a:schemeClr val="bg1"/>
              </a:solidFill>
              <a:latin typeface="思源黑体 CN Normal"/>
              <a:ea typeface="思源黑体 CN Normal"/>
              <a:cs typeface="思源黑体 CN Norm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文本框 2"/>
          <p:cNvSpPr>
            <a:spLocks noGrp="1"/>
          </p:cNvSpPr>
          <p:nvPr/>
        </p:nvSpPr>
        <p:spPr>
          <a:xfrm>
            <a:off x="595856" y="1073578"/>
            <a:ext cx="9240520" cy="7214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rPr>
                <a:solidFill>
                  <a:srgbClr val="006659"/>
                </a:solidFill>
              </a:rPr>
              <a:t>纯 AI 聊天为什么越用越累？</a:t>
            </a:r>
            <a:endParaRPr>
              <a:solidFill>
                <a:srgbClr val="006659"/>
              </a:solidFill>
            </a:endParaRPr>
          </a:p>
        </p:txBody>
      </p:sp>
      <p:sp>
        <p:nvSpPr>
          <p:cNvPr id="89" name="文本框 8"/>
          <p:cNvSpPr>
            <a:spLocks noGrp="1"/>
          </p:cNvSpPr>
          <p:nvPr/>
        </p:nvSpPr>
        <p:spPr>
          <a:xfrm>
            <a:off x="781050" y="2095500"/>
            <a:ext cx="4095750" cy="7429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rPr>
                <a:solidFill>
                  <a:srgbClr val="8B5A00"/>
                </a:solidFill>
              </a:rPr>
              <a:t>三个问题反复出现</a:t>
            </a:r>
            <a:endParaRPr>
              <a:solidFill>
                <a:srgbClr val="8B5A00"/>
              </a:solidFill>
            </a:endParaRPr>
          </a:p>
        </p:txBody>
      </p:sp>
      <p:sp>
        <p:nvSpPr>
          <p:cNvPr id="90" name=""/>
          <p:cNvSpPr/>
          <p:nvPr/>
        </p:nvSpPr>
        <p:spPr>
          <a:xfrm>
            <a:off x="596900" y="2895600"/>
            <a:ext cx="10998200" cy="1143000"/>
          </a:xfrm>
          <a:prstGeom prst="roundRect">
            <a:avLst>
              <a:gd name="adj" fmla="val 4376"/>
            </a:avLst>
          </a:prstGeom>
          <a:solidFill>
            <a:srgbClr val="F0F6F3">
              <a:alpha val="20000"/>
            </a:srgbClr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91" name=""/>
          <p:cNvSpPr/>
          <p:nvPr/>
        </p:nvSpPr>
        <p:spPr>
          <a:xfrm>
            <a:off x="596900" y="4191000"/>
            <a:ext cx="10998200" cy="1143000"/>
          </a:xfrm>
          <a:prstGeom prst="roundRect">
            <a:avLst>
              <a:gd name="adj" fmla="val 4376"/>
            </a:avLst>
          </a:prstGeom>
          <a:solidFill>
            <a:srgbClr val="F0F6F3">
              <a:alpha val="20000"/>
            </a:srgbClr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92" name=""/>
          <p:cNvSpPr/>
          <p:nvPr/>
        </p:nvSpPr>
        <p:spPr>
          <a:xfrm>
            <a:off x="596900" y="5486400"/>
            <a:ext cx="10998200" cy="1143000"/>
          </a:xfrm>
          <a:prstGeom prst="roundRect">
            <a:avLst>
              <a:gd name="adj" fmla="val 4376"/>
            </a:avLst>
          </a:prstGeom>
          <a:solidFill>
            <a:srgbClr val="F0F6F3">
              <a:alpha val="20000"/>
            </a:srgbClr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93" name=""/>
          <p:cNvSpPr/>
          <p:nvPr/>
        </p:nvSpPr>
        <p:spPr>
          <a:xfrm>
            <a:off x="952500" y="3022600"/>
            <a:ext cx="3175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800">
                <a:solidFill>
                  <a:srgbClr val="006659"/>
                </a:solidFill>
              </a:rPr>
              <a:t>01  素材分散</a:t>
            </a:r>
            <a:endParaRPr/>
          </a:p>
        </p:txBody>
      </p:sp>
      <p:sp>
        <p:nvSpPr>
          <p:cNvPr id="94" name=""/>
          <p:cNvSpPr/>
          <p:nvPr/>
        </p:nvSpPr>
        <p:spPr>
          <a:xfrm>
            <a:off x="952500" y="3454400"/>
            <a:ext cx="1028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333333"/>
                </a:solidFill>
              </a:rPr>
              <a:t>对标内容、高赞笔记和草稿散落在收藏夹、书签和聊天记录里。用的时候找不到，AI 也无从得知你积累过什么。</a:t>
            </a:r>
            <a:endParaRPr/>
          </a:p>
        </p:txBody>
      </p:sp>
      <p:sp>
        <p:nvSpPr>
          <p:cNvPr id="95" name=""/>
          <p:cNvSpPr/>
          <p:nvPr/>
        </p:nvSpPr>
        <p:spPr>
          <a:xfrm>
            <a:off x="952500" y="4318000"/>
            <a:ext cx="3175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800">
                <a:solidFill>
                  <a:srgbClr val="006659"/>
                </a:solidFill>
              </a:rPr>
              <a:t>02  重复输入</a:t>
            </a:r>
            <a:endParaRPr/>
          </a:p>
        </p:txBody>
      </p:sp>
      <p:sp>
        <p:nvSpPr>
          <p:cNvPr id="96" name=""/>
          <p:cNvSpPr/>
          <p:nvPr/>
        </p:nvSpPr>
        <p:spPr>
          <a:xfrm>
            <a:off x="952500" y="4749800"/>
            <a:ext cx="1028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333333"/>
                </a:solidFill>
              </a:rPr>
              <a:t>每次开新对话都要重新交代你是谁、写给谁、什么风格。上次为什么改、改了什么，AI 完全不知道。</a:t>
            </a:r>
            <a:endParaRPr/>
          </a:p>
        </p:txBody>
      </p:sp>
      <p:sp>
        <p:nvSpPr>
          <p:cNvPr id="97" name=""/>
          <p:cNvSpPr/>
          <p:nvPr/>
        </p:nvSpPr>
        <p:spPr>
          <a:xfrm>
            <a:off x="952500" y="5613400"/>
            <a:ext cx="3175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800">
                <a:solidFill>
                  <a:srgbClr val="006659"/>
                </a:solidFill>
              </a:rPr>
              <a:t>03  结果难复用</a:t>
            </a:r>
            <a:endParaRPr/>
          </a:p>
        </p:txBody>
      </p:sp>
      <p:sp>
        <p:nvSpPr>
          <p:cNvPr id="98" name=""/>
          <p:cNvSpPr/>
          <p:nvPr/>
        </p:nvSpPr>
        <p:spPr>
          <a:xfrm>
            <a:off x="952500" y="6045200"/>
            <a:ext cx="10287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333333"/>
                </a:solidFill>
              </a:rPr>
              <a:t>对话一关，生成的内容就消散了。下一篇从空白开始，改了什么没有记录，同样的错误反复犯。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2"/>
          <p:cNvSpPr>
            <a:spLocks noGrp="1"/>
          </p:cNvSpPr>
          <p:nvPr/>
        </p:nvSpPr>
        <p:spPr>
          <a:xfrm>
            <a:off x="595856" y="1074213"/>
            <a:ext cx="9240520" cy="7214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rPr>
                <a:solidFill>
                  <a:srgbClr val="006659"/>
                </a:solidFill>
              </a:rPr>
              <a:t>问题不在 AI 不会写</a:t>
            </a:r>
            <a:endParaRPr>
              <a:solidFill>
                <a:srgbClr val="006659"/>
              </a:solidFill>
            </a:endParaRPr>
          </a:p>
        </p:txBody>
      </p:sp>
      <p:sp>
        <p:nvSpPr>
          <p:cNvPr id="101" name="文本框 8"/>
          <p:cNvSpPr>
            <a:spLocks noGrp="1"/>
          </p:cNvSpPr>
          <p:nvPr/>
        </p:nvSpPr>
        <p:spPr>
          <a:xfrm>
            <a:off x="914400" y="2095500"/>
            <a:ext cx="103632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rPr>
                <a:solidFill>
                  <a:srgbClr val="8B5A00"/>
                </a:solidFill>
              </a:rPr>
              <a:t>而在长期上下文没有沉淀</a:t>
            </a:r>
            <a:endParaRPr>
              <a:solidFill>
                <a:srgbClr val="8B5A00"/>
              </a:solidFill>
            </a:endParaRPr>
          </a:p>
        </p:txBody>
      </p:sp>
      <p:sp>
        <p:nvSpPr>
          <p:cNvPr id="102" name="文本框 9"/>
          <p:cNvSpPr>
            <a:spLocks noGrp="1"/>
          </p:cNvSpPr>
          <p:nvPr/>
        </p:nvSpPr>
        <p:spPr>
          <a:xfrm>
            <a:off x="914400" y="3286125"/>
            <a:ext cx="103632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200000"/>
              </a:lnSpc>
              <a:buFont typeface="Wingdings" panose="05000000000000000000"/>
              <a:buNone/>
            </a:pPr>
            <a:r>
              <a:rPr>
                <a:solidFill>
                  <a:srgbClr val="111111"/>
                </a:solidFill>
              </a:rPr>
              <a:t>AI 不知道你是谁、写给谁、有哪些真实素材，也不知道上一次为什么修改。</a:t>
            </a:r>
            <a:endParaRPr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"/>
          <p:cNvSpPr>
            <a:spLocks noGrp="1"/>
          </p:cNvSpPr>
          <p:nvPr/>
        </p:nvSpPr>
        <p:spPr>
          <a:xfrm>
            <a:off x="7239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p>
            <a:pPr algn="ctr">
              <a:defRPr sz="3000" b="1">
                <a:solidFill>
                  <a:srgbClr val="006659"/>
                </a:solidFill>
              </a:defRPr>
            </a:pPr>
            <a:r>
              <a:rPr sz="3000" b="1">
                <a:solidFill>
                  <a:srgbClr val="006659"/>
                </a:solidFill>
              </a:rPr>
              <a:t>一次内容创作，人和 AI 是这样协作的</a:t>
            </a:r>
            <a:endParaRPr sz="3000" b="1">
              <a:solidFill>
                <a:srgbClr val="006659"/>
              </a:solidFill>
            </a:endParaRPr>
          </a:p>
        </p:txBody>
      </p:sp>
      <p:sp>
        <p:nvSpPr>
          <p:cNvPr id="105" name="subtitle"/>
          <p:cNvSpPr>
            <a:spLocks noGrp="1"/>
          </p:cNvSpPr>
          <p:nvPr/>
        </p:nvSpPr>
        <p:spPr>
          <a:xfrm>
            <a:off x="895350" y="1343025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p>
            <a:pPr algn="ctr">
              <a:defRPr sz="1425" b="0">
                <a:solidFill>
                  <a:srgbClr val="4B6661"/>
                </a:solidFill>
              </a:defRPr>
            </a:pPr>
            <a:r>
              <a:rPr sz="1425" b="0">
                <a:solidFill>
                  <a:srgbClr val="4B6661"/>
                </a:solidFill>
              </a:rPr>
              <a:t>人提供真实信息和判断标准；AI 读取项目上下文与 Skill，生成候选；人做最终决定</a:t>
            </a:r>
            <a:endParaRPr sz="1425" b="0">
              <a:solidFill>
                <a:srgbClr val="4B6661"/>
              </a:solidFill>
            </a:endParaRPr>
          </a:p>
        </p:txBody>
      </p:sp>
      <p:sp>
        <p:nvSpPr>
          <p:cNvPr id="106" name="右箭头 101"/>
          <p:cNvSpPr>
            <a:spLocks noGrp="1"/>
          </p:cNvSpPr>
          <p:nvPr/>
        </p:nvSpPr>
        <p:spPr>
          <a:xfrm>
            <a:off x="3524250" y="2295525"/>
            <a:ext cx="361950" cy="266700"/>
          </a:xfrm>
          <a:prstGeom prst="rightArrow">
            <a:avLst/>
          </a:prstGeom>
          <a:solidFill>
            <a:srgbClr val="177C6E"/>
          </a:solidFill>
          <a:ln w="0">
            <a:noFill/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7" name="右箭头 102"/>
          <p:cNvSpPr>
            <a:spLocks noGrp="1"/>
          </p:cNvSpPr>
          <p:nvPr/>
        </p:nvSpPr>
        <p:spPr>
          <a:xfrm>
            <a:off x="3524250" y="3438525"/>
            <a:ext cx="361950" cy="266700"/>
          </a:xfrm>
          <a:prstGeom prst="rightArrow">
            <a:avLst/>
          </a:prstGeom>
          <a:solidFill>
            <a:srgbClr val="177C6E"/>
          </a:solidFill>
          <a:ln w="0">
            <a:noFill/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8" name="右箭头 103"/>
          <p:cNvSpPr>
            <a:spLocks noGrp="1"/>
          </p:cNvSpPr>
          <p:nvPr/>
        </p:nvSpPr>
        <p:spPr>
          <a:xfrm>
            <a:off x="3524250" y="4581525"/>
            <a:ext cx="361950" cy="266700"/>
          </a:xfrm>
          <a:prstGeom prst="rightArrow">
            <a:avLst/>
          </a:prstGeom>
          <a:solidFill>
            <a:srgbClr val="177C6E"/>
          </a:solidFill>
          <a:ln w="0">
            <a:noFill/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9" name="ai-to-candidates"/>
          <p:cNvSpPr>
            <a:spLocks noGrp="1"/>
          </p:cNvSpPr>
          <p:nvPr/>
        </p:nvSpPr>
        <p:spPr>
          <a:xfrm>
            <a:off x="6515100" y="3276600"/>
            <a:ext cx="304800" cy="323850"/>
          </a:xfrm>
          <a:prstGeom prst="rightArrow">
            <a:avLst/>
          </a:prstGeom>
          <a:solidFill>
            <a:srgbClr val="177C6E"/>
          </a:solidFill>
          <a:ln w="0">
            <a:noFill/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0" name="candidates-to-review"/>
          <p:cNvSpPr>
            <a:spLocks noGrp="1"/>
          </p:cNvSpPr>
          <p:nvPr/>
        </p:nvSpPr>
        <p:spPr>
          <a:xfrm>
            <a:off x="9201150" y="3276600"/>
            <a:ext cx="285750" cy="323850"/>
          </a:xfrm>
          <a:prstGeom prst="rightArrow">
            <a:avLst/>
          </a:prstGeom>
          <a:solidFill>
            <a:srgbClr val="B27300"/>
          </a:solidFill>
          <a:ln w="0">
            <a:noFill/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1" name="human-input"/>
          <p:cNvSpPr>
            <a:spLocks noGrp="1"/>
          </p:cNvSpPr>
          <p:nvPr/>
        </p:nvSpPr>
        <p:spPr>
          <a:xfrm>
            <a:off x="590550" y="1905000"/>
            <a:ext cx="2857500" cy="1066800"/>
          </a:xfrm>
          <a:prstGeom prst="roundRect">
            <a:avLst>
              <a:gd name="adj" fmla="val 10714"/>
            </a:avLst>
          </a:prstGeom>
          <a:solidFill>
            <a:srgbClr val="FFF2D9"/>
          </a:solidFill>
          <a:ln w="14288">
            <a:solidFill>
              <a:srgbClr val="E4B76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pPr/>
            <a:endParaRPr/>
          </a:p>
        </p:txBody>
      </p:sp>
      <p:sp>
        <p:nvSpPr>
          <p:cNvPr id="112" name="human-input-title"/>
          <p:cNvSpPr>
            <a:spLocks noGrp="1"/>
          </p:cNvSpPr>
          <p:nvPr/>
        </p:nvSpPr>
        <p:spPr>
          <a:xfrm>
            <a:off x="762000" y="200025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p>
            <a:pPr algn="l">
              <a:defRPr sz="1725" b="1">
                <a:solidFill>
                  <a:srgbClr val="B27300"/>
                </a:solidFill>
              </a:defRPr>
            </a:pPr>
            <a:r>
              <a:rPr sz="1725" b="1">
                <a:solidFill>
                  <a:srgbClr val="B27300"/>
                </a:solidFill>
              </a:rPr>
              <a:t>人提供</a:t>
            </a:r>
            <a:endParaRPr sz="1725" b="1">
              <a:solidFill>
                <a:srgbClr val="B27300"/>
              </a:solidFill>
            </a:endParaRPr>
          </a:p>
        </p:txBody>
      </p:sp>
      <p:sp>
        <p:nvSpPr>
          <p:cNvPr id="113" name="human-input-subtitle"/>
          <p:cNvSpPr>
            <a:spLocks noGrp="1"/>
          </p:cNvSpPr>
          <p:nvPr/>
        </p:nvSpPr>
        <p:spPr>
          <a:xfrm>
            <a:off x="2019300" y="201930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p>
            <a:pPr algn="r">
              <a:defRPr sz="1125" b="0">
                <a:solidFill>
                  <a:srgbClr val="4B6661"/>
                </a:solidFill>
              </a:defRPr>
            </a:pPr>
            <a:r>
              <a:rPr sz="1125" b="0">
                <a:solidFill>
                  <a:srgbClr val="4B6661"/>
                </a:solidFill>
              </a:rPr>
              <a:t>本次真实输入</a:t>
            </a:r>
            <a:endParaRPr sz="1125" b="0">
              <a:solidFill>
                <a:srgbClr val="4B6661"/>
              </a:solidFill>
            </a:endParaRPr>
          </a:p>
        </p:txBody>
      </p:sp>
      <p:sp>
        <p:nvSpPr>
          <p:cNvPr id="114" name="human-input-body"/>
          <p:cNvSpPr>
            <a:spLocks noGrp="1"/>
          </p:cNvSpPr>
          <p:nvPr/>
        </p:nvSpPr>
        <p:spPr>
          <a:xfrm>
            <a:off x="762000" y="2333625"/>
            <a:ext cx="2514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00" b="0">
                <a:solidFill>
                  <a:srgbClr val="14211F">
                    <a:alpha val="100000"/>
                  </a:srgbClr>
                </a:solidFill>
                <a:latin typeface="等线"/>
                <a:ea typeface="等线"/>
                <a:cs typeface="+mn-cs"/>
              </a:defRPr>
            </a:pPr>
            <a:r>
              <a:rPr sz="1200" b="0">
                <a:solidFill>
                  <a:srgbClr val="14211F">
                    <a:alpha val="100000"/>
                  </a:srgbClr>
                </a:solidFill>
              </a:rPr>
              <a:t>真实背景与业务经验</a:t>
            </a:r>
            <a:endParaRPr sz="1200" b="0">
              <a:solidFill>
                <a:srgbClr val="14211F">
                  <a:alpha val="100000"/>
                </a:srgbClr>
              </a:solidFill>
            </a:endParaRPr>
          </a:p>
          <a:p>
            <a:pPr algn="l">
              <a:defRPr sz="1200" b="0">
                <a:solidFill>
                  <a:srgbClr val="14211F">
                    <a:alpha val="100000"/>
                  </a:srgbClr>
                </a:solidFill>
                <a:latin typeface="等线"/>
                <a:ea typeface="等线"/>
                <a:cs typeface="+mn-cs"/>
              </a:defRPr>
            </a:pPr>
            <a:r>
              <a:rPr sz="1200" b="0">
                <a:solidFill>
                  <a:srgbClr val="14211F">
                    <a:alpha val="100000"/>
                  </a:srgbClr>
                </a:solidFill>
              </a:rPr>
              <a:t>本次</a:t>
            </a:r>
            <a:r>
              <a:rPr lang="zh-CN" sz="1200" b="0">
                <a:solidFill>
                  <a:srgbClr val="14211F">
                    <a:alpha val="100000"/>
                  </a:srgbClr>
                </a:solidFill>
              </a:rPr>
              <a:t>选题</a:t>
            </a:r>
            <a:r>
              <a:rPr sz="1200" b="0">
                <a:solidFill>
                  <a:srgbClr val="14211F">
                    <a:alpha val="100000"/>
                  </a:srgbClr>
                </a:solidFill>
              </a:rPr>
              <a:t>｜判断标准｜事实边界</a:t>
            </a:r>
            <a:endParaRPr/>
          </a:p>
        </p:txBody>
      </p:sp>
      <p:sp>
        <p:nvSpPr>
          <p:cNvPr id="115" name="project-assets"/>
          <p:cNvSpPr>
            <a:spLocks noGrp="1"/>
          </p:cNvSpPr>
          <p:nvPr/>
        </p:nvSpPr>
        <p:spPr>
          <a:xfrm>
            <a:off x="590550" y="3048000"/>
            <a:ext cx="2857500" cy="1066800"/>
          </a:xfrm>
          <a:prstGeom prst="roundRect">
            <a:avLst>
              <a:gd name="adj" fmla="val 10714"/>
            </a:avLst>
          </a:prstGeom>
          <a:solidFill>
            <a:srgbClr val="FBFDFC"/>
          </a:solidFill>
          <a:ln w="14288">
            <a:solidFill>
              <a:srgbClr val="9CCFC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pPr/>
            <a:endParaRPr/>
          </a:p>
        </p:txBody>
      </p:sp>
      <p:sp>
        <p:nvSpPr>
          <p:cNvPr id="116" name="project-assets-title"/>
          <p:cNvSpPr>
            <a:spLocks noGrp="1"/>
          </p:cNvSpPr>
          <p:nvPr/>
        </p:nvSpPr>
        <p:spPr>
          <a:xfrm>
            <a:off x="762000" y="314325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p>
            <a:pPr algn="l">
              <a:defRPr sz="1725" b="1">
                <a:solidFill>
                  <a:srgbClr val="006659"/>
                </a:solidFill>
              </a:defRPr>
            </a:pPr>
            <a:r>
              <a:rPr sz="1725" b="1">
                <a:solidFill>
                  <a:srgbClr val="006659"/>
                </a:solidFill>
              </a:rPr>
              <a:t>项目资产</a:t>
            </a:r>
            <a:endParaRPr sz="1725" b="1">
              <a:solidFill>
                <a:srgbClr val="006659"/>
              </a:solidFill>
            </a:endParaRPr>
          </a:p>
        </p:txBody>
      </p:sp>
      <p:sp>
        <p:nvSpPr>
          <p:cNvPr id="117" name="project-assets-subtitle"/>
          <p:cNvSpPr>
            <a:spLocks noGrp="1"/>
          </p:cNvSpPr>
          <p:nvPr/>
        </p:nvSpPr>
        <p:spPr>
          <a:xfrm>
            <a:off x="2019300" y="316230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p>
            <a:pPr algn="r">
              <a:defRPr sz="1125" b="0">
                <a:solidFill>
                  <a:srgbClr val="4B6661"/>
                </a:solidFill>
              </a:defRPr>
            </a:pPr>
            <a:r>
              <a:rPr sz="1125" b="0">
                <a:solidFill>
                  <a:srgbClr val="4B6661"/>
                </a:solidFill>
              </a:rPr>
              <a:t>长期上下文</a:t>
            </a:r>
            <a:endParaRPr sz="1125" b="0">
              <a:solidFill>
                <a:srgbClr val="4B6661"/>
              </a:solidFill>
            </a:endParaRPr>
          </a:p>
        </p:txBody>
      </p:sp>
      <p:sp>
        <p:nvSpPr>
          <p:cNvPr id="118" name="project-assets-body"/>
          <p:cNvSpPr>
            <a:spLocks noGrp="1"/>
          </p:cNvSpPr>
          <p:nvPr/>
        </p:nvSpPr>
        <p:spPr>
          <a:xfrm>
            <a:off x="762000" y="3476625"/>
            <a:ext cx="2514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p>
            <a:pPr algn="l">
              <a:defRPr sz="1200" b="0">
                <a:solidFill>
                  <a:srgbClr val="14211F"/>
                </a:solidFill>
              </a:defRPr>
            </a:pPr>
            <a:r>
              <a:rPr sz="1200" b="0">
                <a:solidFill>
                  <a:srgbClr val="14211F"/>
                </a:solidFill>
              </a:rPr>
              <a:t>定位总览｜素材库与对标内容</a:t>
            </a:r>
            <a:endParaRPr sz="1200" b="0">
              <a:solidFill>
                <a:srgbClr val="14211F"/>
              </a:solidFill>
            </a:endParaRPr>
          </a:p>
          <a:p>
            <a:pPr algn="l">
              <a:defRPr sz="1200" b="0">
                <a:solidFill>
                  <a:srgbClr val="14211F"/>
                </a:solidFill>
              </a:defRPr>
            </a:pPr>
            <a:r>
              <a:rPr sz="1200" b="0">
                <a:solidFill>
                  <a:srgbClr val="14211F"/>
                </a:solidFill>
              </a:rPr>
              <a:t>内容规律｜历史草稿｜修改与复盘</a:t>
            </a:r>
            <a:endParaRPr sz="1200" b="0">
              <a:solidFill>
                <a:srgbClr val="14211F"/>
              </a:solidFill>
            </a:endParaRPr>
          </a:p>
        </p:txBody>
      </p:sp>
      <p:sp>
        <p:nvSpPr>
          <p:cNvPr id="119" name="skill-input"/>
          <p:cNvSpPr>
            <a:spLocks noGrp="1"/>
          </p:cNvSpPr>
          <p:nvPr/>
        </p:nvSpPr>
        <p:spPr>
          <a:xfrm>
            <a:off x="590550" y="4191000"/>
            <a:ext cx="2857500" cy="1066800"/>
          </a:xfrm>
          <a:prstGeom prst="roundRect">
            <a:avLst>
              <a:gd name="adj" fmla="val 10714"/>
            </a:avLst>
          </a:prstGeom>
          <a:solidFill>
            <a:srgbClr val="DDF2EC"/>
          </a:solidFill>
          <a:ln w="14288">
            <a:solidFill>
              <a:srgbClr val="9CCFC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pPr/>
            <a:endParaRPr/>
          </a:p>
        </p:txBody>
      </p:sp>
      <p:sp>
        <p:nvSpPr>
          <p:cNvPr id="120" name="skill-input-title"/>
          <p:cNvSpPr>
            <a:spLocks noGrp="1"/>
          </p:cNvSpPr>
          <p:nvPr/>
        </p:nvSpPr>
        <p:spPr>
          <a:xfrm>
            <a:off x="762000" y="428625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p>
            <a:pPr algn="l">
              <a:defRPr sz="1725" b="1">
                <a:solidFill>
                  <a:srgbClr val="006659"/>
                </a:solidFill>
              </a:defRPr>
            </a:pPr>
            <a:r>
              <a:rPr sz="1725" b="1">
                <a:solidFill>
                  <a:srgbClr val="006659"/>
                </a:solidFill>
              </a:rPr>
              <a:t>Skill</a:t>
            </a:r>
            <a:endParaRPr sz="1725" b="1">
              <a:solidFill>
                <a:srgbClr val="006659"/>
              </a:solidFill>
            </a:endParaRPr>
          </a:p>
        </p:txBody>
      </p:sp>
      <p:sp>
        <p:nvSpPr>
          <p:cNvPr id="121" name="skill-input-subtitle"/>
          <p:cNvSpPr>
            <a:spLocks noGrp="1"/>
          </p:cNvSpPr>
          <p:nvPr/>
        </p:nvSpPr>
        <p:spPr>
          <a:xfrm>
            <a:off x="2019300" y="430530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p>
            <a:pPr algn="r">
              <a:defRPr sz="1125" b="0">
                <a:solidFill>
                  <a:srgbClr val="4B6661"/>
                </a:solidFill>
              </a:defRPr>
            </a:pPr>
            <a:r>
              <a:rPr sz="1125" b="0">
                <a:solidFill>
                  <a:srgbClr val="4B6661"/>
                </a:solidFill>
              </a:rPr>
              <a:t>做事方法</a:t>
            </a:r>
            <a:endParaRPr sz="1125" b="0">
              <a:solidFill>
                <a:srgbClr val="4B6661"/>
              </a:solidFill>
            </a:endParaRPr>
          </a:p>
        </p:txBody>
      </p:sp>
      <p:sp>
        <p:nvSpPr>
          <p:cNvPr id="122" name="skill-input-body"/>
          <p:cNvSpPr>
            <a:spLocks noGrp="1"/>
          </p:cNvSpPr>
          <p:nvPr/>
        </p:nvSpPr>
        <p:spPr>
          <a:xfrm>
            <a:off x="762000" y="4619625"/>
            <a:ext cx="2514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p>
            <a:pPr algn="l">
              <a:defRPr sz="1200" b="0">
                <a:solidFill>
                  <a:srgbClr val="14211F"/>
                </a:solidFill>
              </a:defRPr>
            </a:pPr>
            <a:r>
              <a:rPr sz="1200" b="0">
                <a:solidFill>
                  <a:srgbClr val="14211F"/>
                </a:solidFill>
              </a:rPr>
              <a:t>创作 Skill：组织素材、生成初稿</a:t>
            </a:r>
            <a:endParaRPr sz="1200" b="0">
              <a:solidFill>
                <a:srgbClr val="14211F"/>
              </a:solidFill>
            </a:endParaRPr>
          </a:p>
          <a:p>
            <a:pPr algn="l">
              <a:defRPr sz="1200" b="0">
                <a:solidFill>
                  <a:srgbClr val="14211F"/>
                </a:solidFill>
              </a:defRPr>
            </a:pPr>
            <a:r>
              <a:rPr sz="1200" b="0">
                <a:solidFill>
                  <a:srgbClr val="14211F"/>
                </a:solidFill>
              </a:rPr>
              <a:t>个人风格 Skill：语气与禁用表达</a:t>
            </a:r>
            <a:endParaRPr sz="1200" b="0">
              <a:solidFill>
                <a:srgbClr val="14211F"/>
              </a:solidFill>
            </a:endParaRPr>
          </a:p>
          <a:p>
            <a:pPr algn="l">
              <a:defRPr sz="1200" b="0">
                <a:solidFill>
                  <a:srgbClr val="14211F"/>
                </a:solidFill>
              </a:defRPr>
            </a:pPr>
            <a:r>
              <a:rPr sz="1200" b="0">
                <a:solidFill>
                  <a:srgbClr val="14211F"/>
                </a:solidFill>
              </a:rPr>
              <a:t>事实核查 Skill：来源与准确性</a:t>
            </a:r>
            <a:endParaRPr sz="1200" b="0">
              <a:solidFill>
                <a:srgbClr val="14211F"/>
              </a:solidFill>
            </a:endParaRPr>
          </a:p>
        </p:txBody>
      </p:sp>
      <p:sp>
        <p:nvSpPr>
          <p:cNvPr id="123" name="ai-execution"/>
          <p:cNvSpPr>
            <a:spLocks noGrp="1"/>
          </p:cNvSpPr>
          <p:nvPr/>
        </p:nvSpPr>
        <p:spPr>
          <a:xfrm>
            <a:off x="3943350" y="2095500"/>
            <a:ext cx="2571750" cy="3143250"/>
          </a:xfrm>
          <a:prstGeom prst="roundRect">
            <a:avLst>
              <a:gd name="adj" fmla="val 4444"/>
            </a:avLst>
          </a:prstGeom>
          <a:solidFill>
            <a:srgbClr val="006659"/>
          </a:solidFill>
          <a:ln w="17145">
            <a:solidFill>
              <a:srgbClr val="00665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pPr/>
            <a:endParaRPr/>
          </a:p>
        </p:txBody>
      </p:sp>
      <p:sp>
        <p:nvSpPr>
          <p:cNvPr id="124" name="ai-execution-eyebrow"/>
          <p:cNvSpPr>
            <a:spLocks noGrp="1"/>
          </p:cNvSpPr>
          <p:nvPr/>
        </p:nvSpPr>
        <p:spPr>
          <a:xfrm>
            <a:off x="4114800" y="2228850"/>
            <a:ext cx="2228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p>
            <a:pPr algn="ctr">
              <a:defRPr sz="1125" b="1">
                <a:solidFill>
                  <a:srgbClr val="BFE5DA"/>
                </a:solidFill>
              </a:defRPr>
            </a:pPr>
            <a:r>
              <a:rPr sz="1125" b="1">
                <a:solidFill>
                  <a:srgbClr val="BFE5DA"/>
                </a:solidFill>
              </a:rPr>
              <a:t>不是只看当前一句提示词</a:t>
            </a:r>
            <a:endParaRPr sz="1125" b="1">
              <a:solidFill>
                <a:srgbClr val="BFE5DA"/>
              </a:solidFill>
            </a:endParaRPr>
          </a:p>
        </p:txBody>
      </p:sp>
      <p:sp>
        <p:nvSpPr>
          <p:cNvPr id="125" name="ai-execution-title"/>
          <p:cNvSpPr>
            <a:spLocks noGrp="1"/>
          </p:cNvSpPr>
          <p:nvPr/>
        </p:nvSpPr>
        <p:spPr>
          <a:xfrm>
            <a:off x="4114800" y="2514600"/>
            <a:ext cx="2228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506"/>
          </a:bodyPr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AI 读取上下文</a:t>
            </a:r>
            <a:endParaRPr sz="2025" b="1">
              <a:solidFill>
                <a:srgbClr val="FFFFFF"/>
              </a:solidFill>
            </a:endParaRPr>
          </a:p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并按 Skill 执行</a:t>
            </a:r>
            <a:endParaRPr sz="2025" b="1">
              <a:solidFill>
                <a:srgbClr val="FFFFFF"/>
              </a:solidFill>
            </a:endParaRPr>
          </a:p>
        </p:txBody>
      </p:sp>
      <p:sp>
        <p:nvSpPr>
          <p:cNvPr id="126" name="ai-execution-body"/>
          <p:cNvSpPr>
            <a:spLocks noGrp="1"/>
          </p:cNvSpPr>
          <p:nvPr/>
        </p:nvSpPr>
        <p:spPr>
          <a:xfrm>
            <a:off x="4133850" y="3162300"/>
            <a:ext cx="219075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p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读取</a:t>
            </a:r>
            <a:endParaRPr sz="1275" b="0">
              <a:solidFill>
                <a:srgbClr val="FFFFFF"/>
              </a:solidFill>
            </a:endParaRPr>
          </a:p>
          <a:p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人提供 + 项目资产 + Skill</a:t>
            </a:r>
            <a:endParaRPr sz="1275" b="0">
              <a:solidFill>
                <a:srgbClr val="FFFFFF"/>
              </a:solidFill>
            </a:endParaRPr>
          </a:p>
          <a:p>
            <a:pPr/>
            <a:endParaRPr sz="1275"/>
          </a:p>
          <a:p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执行</a:t>
            </a:r>
            <a:endParaRPr sz="1275" b="0">
              <a:solidFill>
                <a:srgbClr val="FFFFFF"/>
              </a:solidFill>
            </a:endParaRPr>
          </a:p>
          <a:p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检索 · 整理 · 比较 · 提取 · 生成</a:t>
            </a:r>
            <a:endParaRPr sz="1275" b="0">
              <a:solidFill>
                <a:srgbClr val="FFFFFF"/>
              </a:solidFill>
            </a:endParaRPr>
          </a:p>
        </p:txBody>
      </p:sp>
      <p:sp>
        <p:nvSpPr>
          <p:cNvPr id="127" name="ai-candidates"/>
          <p:cNvSpPr>
            <a:spLocks noGrp="1"/>
          </p:cNvSpPr>
          <p:nvPr/>
        </p:nvSpPr>
        <p:spPr>
          <a:xfrm>
            <a:off x="6858000" y="2095500"/>
            <a:ext cx="2343150" cy="3143250"/>
          </a:xfrm>
          <a:prstGeom prst="roundRect">
            <a:avLst>
              <a:gd name="adj" fmla="val 4878"/>
            </a:avLst>
          </a:prstGeom>
          <a:solidFill>
            <a:srgbClr val="FBFDFC"/>
          </a:solidFill>
          <a:ln w="17145">
            <a:solidFill>
              <a:srgbClr val="9CCFC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pPr/>
            <a:endParaRPr/>
          </a:p>
        </p:txBody>
      </p:sp>
      <p:sp>
        <p:nvSpPr>
          <p:cNvPr id="128" name="ai-candidates-eyebrow"/>
          <p:cNvSpPr>
            <a:spLocks noGrp="1"/>
          </p:cNvSpPr>
          <p:nvPr/>
        </p:nvSpPr>
        <p:spPr>
          <a:xfrm>
            <a:off x="7029450" y="22288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p>
            <a:pPr algn="ctr">
              <a:defRPr sz="1125" b="1">
                <a:solidFill>
                  <a:srgbClr val="4B6661"/>
                </a:solidFill>
              </a:defRPr>
            </a:pPr>
            <a:r>
              <a:rPr sz="1125" b="1">
                <a:solidFill>
                  <a:srgbClr val="4B6661"/>
                </a:solidFill>
              </a:rPr>
              <a:t>AI 的结果不是终稿</a:t>
            </a:r>
            <a:endParaRPr sz="1125" b="1">
              <a:solidFill>
                <a:srgbClr val="4B6661"/>
              </a:solidFill>
            </a:endParaRPr>
          </a:p>
        </p:txBody>
      </p:sp>
      <p:sp>
        <p:nvSpPr>
          <p:cNvPr id="129" name="ai-candidates-title"/>
          <p:cNvSpPr>
            <a:spLocks noGrp="1"/>
          </p:cNvSpPr>
          <p:nvPr/>
        </p:nvSpPr>
        <p:spPr>
          <a:xfrm>
            <a:off x="7029450" y="251460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p>
            <a:pPr algn="ctr">
              <a:defRPr sz="2025" b="1">
                <a:solidFill>
                  <a:srgbClr val="006659"/>
                </a:solidFill>
              </a:defRPr>
            </a:pPr>
            <a:r>
              <a:rPr sz="2025" b="1">
                <a:solidFill>
                  <a:srgbClr val="006659"/>
                </a:solidFill>
              </a:rPr>
              <a:t>生成候选结果</a:t>
            </a:r>
            <a:endParaRPr sz="2025" b="1">
              <a:solidFill>
                <a:srgbClr val="006659"/>
              </a:solidFill>
            </a:endParaRPr>
          </a:p>
        </p:txBody>
      </p:sp>
      <p:sp>
        <p:nvSpPr>
          <p:cNvPr id="130" name="ai-candidates-body"/>
          <p:cNvSpPr>
            <a:spLocks noGrp="1"/>
          </p:cNvSpPr>
          <p:nvPr/>
        </p:nvSpPr>
        <p:spPr>
          <a:xfrm>
            <a:off x="7048500" y="3162300"/>
            <a:ext cx="196215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p>
            <a:pPr algn="ctr">
              <a:defRPr sz="1275" b="0">
                <a:solidFill>
                  <a:srgbClr val="14211F"/>
                </a:solidFill>
              </a:defRPr>
            </a:pPr>
            <a:r>
              <a:rPr sz="1275" b="0">
                <a:solidFill>
                  <a:srgbClr val="14211F"/>
                </a:solidFill>
              </a:rPr>
              <a:t>候选选题</a:t>
            </a:r>
            <a:endParaRPr sz="1275" b="0">
              <a:solidFill>
                <a:srgbClr val="14211F"/>
              </a:solidFill>
            </a:endParaRPr>
          </a:p>
          <a:p>
            <a:pPr algn="ctr">
              <a:defRPr sz="1275" b="0">
                <a:solidFill>
                  <a:srgbClr val="14211F"/>
                </a:solidFill>
              </a:defRPr>
            </a:pPr>
            <a:r>
              <a:rPr sz="1275" b="0">
                <a:solidFill>
                  <a:srgbClr val="14211F"/>
                </a:solidFill>
              </a:rPr>
              <a:t>素材包</a:t>
            </a:r>
            <a:endParaRPr sz="1275" b="0">
              <a:solidFill>
                <a:srgbClr val="14211F"/>
              </a:solidFill>
            </a:endParaRPr>
          </a:p>
          <a:p>
            <a:pPr algn="ctr">
              <a:defRPr sz="1275" b="0">
                <a:solidFill>
                  <a:srgbClr val="14211F"/>
                </a:solidFill>
              </a:defRPr>
            </a:pPr>
            <a:r>
              <a:rPr sz="1275" b="0">
                <a:solidFill>
                  <a:srgbClr val="14211F"/>
                </a:solidFill>
              </a:rPr>
              <a:t>内容初稿</a:t>
            </a:r>
            <a:endParaRPr sz="1275" b="0">
              <a:solidFill>
                <a:srgbClr val="14211F"/>
              </a:solidFill>
            </a:endParaRPr>
          </a:p>
          <a:p>
            <a:pPr algn="ctr">
              <a:defRPr sz="1275" b="0">
                <a:solidFill>
                  <a:srgbClr val="14211F"/>
                </a:solidFill>
              </a:defRPr>
            </a:pPr>
            <a:r>
              <a:rPr sz="1275" b="0">
                <a:solidFill>
                  <a:srgbClr val="14211F"/>
                </a:solidFill>
              </a:rPr>
              <a:t>修改建议</a:t>
            </a:r>
            <a:endParaRPr sz="1275" b="0">
              <a:solidFill>
                <a:srgbClr val="14211F"/>
              </a:solidFill>
            </a:endParaRPr>
          </a:p>
        </p:txBody>
      </p:sp>
      <p:sp>
        <p:nvSpPr>
          <p:cNvPr id="131" name="human-review"/>
          <p:cNvSpPr>
            <a:spLocks noGrp="1"/>
          </p:cNvSpPr>
          <p:nvPr/>
        </p:nvSpPr>
        <p:spPr>
          <a:xfrm>
            <a:off x="9525000" y="2095500"/>
            <a:ext cx="2152650" cy="3143250"/>
          </a:xfrm>
          <a:prstGeom prst="roundRect">
            <a:avLst>
              <a:gd name="adj" fmla="val 5310"/>
            </a:avLst>
          </a:prstGeom>
          <a:solidFill>
            <a:srgbClr val="FFF2D9"/>
          </a:solidFill>
          <a:ln w="17145">
            <a:solidFill>
              <a:srgbClr val="E4B76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pPr/>
            <a:endParaRPr/>
          </a:p>
        </p:txBody>
      </p:sp>
      <p:sp>
        <p:nvSpPr>
          <p:cNvPr id="132" name="human-review-eyebrow"/>
          <p:cNvSpPr>
            <a:spLocks noGrp="1"/>
          </p:cNvSpPr>
          <p:nvPr/>
        </p:nvSpPr>
        <p:spPr>
          <a:xfrm>
            <a:off x="9696450" y="22288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p>
            <a:pPr algn="ctr">
              <a:defRPr sz="1125" b="1">
                <a:solidFill>
                  <a:srgbClr val="4B6661"/>
                </a:solidFill>
              </a:defRPr>
            </a:pPr>
            <a:r>
              <a:rPr sz="1125" b="1">
                <a:solidFill>
                  <a:srgbClr val="4B6661"/>
                </a:solidFill>
              </a:rPr>
              <a:t>人始终负责最后一公里</a:t>
            </a:r>
            <a:endParaRPr sz="1125" b="1">
              <a:solidFill>
                <a:srgbClr val="4B6661"/>
              </a:solidFill>
            </a:endParaRPr>
          </a:p>
        </p:txBody>
      </p:sp>
      <p:sp>
        <p:nvSpPr>
          <p:cNvPr id="133" name="human-review-title"/>
          <p:cNvSpPr>
            <a:spLocks noGrp="1"/>
          </p:cNvSpPr>
          <p:nvPr/>
        </p:nvSpPr>
        <p:spPr>
          <a:xfrm>
            <a:off x="9696450" y="2514600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506"/>
          </a:bodyPr>
          <a:p>
            <a:pPr algn="ctr">
              <a:defRPr sz="2025" b="1">
                <a:solidFill>
                  <a:srgbClr val="B27300"/>
                </a:solidFill>
              </a:defRPr>
            </a:pPr>
            <a:r>
              <a:rPr sz="2025" b="1">
                <a:solidFill>
                  <a:srgbClr val="B27300"/>
                </a:solidFill>
              </a:rPr>
              <a:t>人审核、修改并决定</a:t>
            </a:r>
            <a:endParaRPr sz="2025" b="1">
              <a:solidFill>
                <a:srgbClr val="B27300"/>
              </a:solidFill>
            </a:endParaRPr>
          </a:p>
        </p:txBody>
      </p:sp>
      <p:sp>
        <p:nvSpPr>
          <p:cNvPr id="134" name="human-review-body"/>
          <p:cNvSpPr>
            <a:spLocks noGrp="1"/>
          </p:cNvSpPr>
          <p:nvPr/>
        </p:nvSpPr>
        <p:spPr>
          <a:xfrm>
            <a:off x="9715500" y="3162300"/>
            <a:ext cx="177165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p>
            <a:pPr algn="ctr">
              <a:defRPr sz="1275" b="0">
                <a:solidFill>
                  <a:srgbClr val="14211F"/>
                </a:solidFill>
              </a:defRPr>
            </a:pPr>
            <a:r>
              <a:rPr sz="1275" b="0">
                <a:solidFill>
                  <a:srgbClr val="14211F"/>
                </a:solidFill>
              </a:rPr>
              <a:t>核查真实性</a:t>
            </a:r>
            <a:endParaRPr sz="1275" b="0">
              <a:solidFill>
                <a:srgbClr val="14211F"/>
              </a:solidFill>
            </a:endParaRPr>
          </a:p>
          <a:p>
            <a:pPr algn="ctr">
              <a:defRPr sz="1275" b="0">
                <a:solidFill>
                  <a:srgbClr val="14211F"/>
                </a:solidFill>
              </a:defRPr>
            </a:pPr>
            <a:r>
              <a:rPr sz="1275" b="0">
                <a:solidFill>
                  <a:srgbClr val="14211F"/>
                </a:solidFill>
              </a:rPr>
              <a:t>判断是否适合业务</a:t>
            </a:r>
            <a:endParaRPr sz="1275" b="0">
              <a:solidFill>
                <a:srgbClr val="14211F"/>
              </a:solidFill>
            </a:endParaRPr>
          </a:p>
          <a:p>
            <a:pPr algn="ctr">
              <a:defRPr sz="1275" b="0">
                <a:solidFill>
                  <a:srgbClr val="14211F"/>
                </a:solidFill>
              </a:defRPr>
            </a:pPr>
            <a:r>
              <a:rPr sz="1275" b="0">
                <a:solidFill>
                  <a:srgbClr val="14211F"/>
                </a:solidFill>
              </a:rPr>
              <a:t>选择、取舍和修改</a:t>
            </a:r>
            <a:endParaRPr sz="1275" b="0">
              <a:solidFill>
                <a:srgbClr val="14211F"/>
              </a:solidFill>
            </a:endParaRPr>
          </a:p>
          <a:p>
            <a:pPr algn="ctr">
              <a:defRPr sz="1275" b="0">
                <a:solidFill>
                  <a:srgbClr val="14211F"/>
                </a:solidFill>
              </a:defRPr>
            </a:pPr>
            <a:r>
              <a:rPr sz="1275" b="0">
                <a:solidFill>
                  <a:srgbClr val="14211F"/>
                </a:solidFill>
              </a:rPr>
              <a:t>最终确认是否发布</a:t>
            </a:r>
            <a:endParaRPr sz="1275" b="0">
              <a:solidFill>
                <a:srgbClr val="14211F"/>
              </a:solidFill>
            </a:endParaRPr>
          </a:p>
        </p:txBody>
      </p:sp>
      <p:sp>
        <p:nvSpPr>
          <p:cNvPr id="135" name="revision-loop"/>
          <p:cNvSpPr>
            <a:spLocks noGrp="1"/>
          </p:cNvSpPr>
          <p:nvPr/>
        </p:nvSpPr>
        <p:spPr>
          <a:xfrm>
            <a:off x="3943350" y="5505450"/>
            <a:ext cx="7734300" cy="457200"/>
          </a:xfrm>
          <a:prstGeom prst="leftArrow">
            <a:avLst/>
          </a:prstGeom>
          <a:solidFill>
            <a:srgbClr val="DDF2EC"/>
          </a:solidFill>
          <a:ln w="12383">
            <a:solidFill>
              <a:srgbClr val="9CCFC2"/>
            </a:solidFill>
            <a:prstDash val="solid"/>
          </a:ln>
        </p:spPr>
        <p:txBody>
          <a:bodyPr lIns="400050" tIns="0" rIns="152400" bIns="0" anchor="ctr"/>
          <a:p>
            <a:pPr algn="ctr">
              <a:defRPr sz="1275" b="1">
                <a:solidFill>
                  <a:srgbClr val="006659"/>
                </a:solidFill>
              </a:defRPr>
            </a:pPr>
            <a:r>
              <a:rPr sz="1275" b="1">
                <a:solidFill>
                  <a:srgbClr val="006659"/>
                </a:solidFill>
              </a:rPr>
              <a:t>不满意：补充信息、调整标准或提出修改意见，返回 AI 继续生成</a:t>
            </a:r>
            <a:endParaRPr sz="1275" b="1">
              <a:solidFill>
                <a:srgbClr val="006659"/>
              </a:solidFill>
            </a:endParaRPr>
          </a:p>
        </p:txBody>
      </p:sp>
      <p:sp>
        <p:nvSpPr>
          <p:cNvPr id="136" name="writeback-loop"/>
          <p:cNvSpPr>
            <a:spLocks noGrp="1"/>
          </p:cNvSpPr>
          <p:nvPr/>
        </p:nvSpPr>
        <p:spPr>
          <a:xfrm>
            <a:off x="590550" y="6191250"/>
            <a:ext cx="11087100" cy="552450"/>
          </a:xfrm>
          <a:prstGeom prst="leftArrow">
            <a:avLst/>
          </a:prstGeom>
          <a:solidFill>
            <a:srgbClr val="006659"/>
          </a:solidFill>
          <a:ln w="0">
            <a:noFill/>
            <a:prstDash val="solid"/>
          </a:ln>
        </p:spPr>
        <p:txBody>
          <a:bodyPr lIns="514350" tIns="0" rIns="190500" bIns="0" anchor="ctr"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确认后写回项目：最终内容 + 修改记录 + 真实反馈 → 成为下一次创作的上下文</a:t>
            </a:r>
            <a:endParaRPr sz="1425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文本框 2"/>
          <p:cNvSpPr>
            <a:spLocks noGrp="1"/>
          </p:cNvSpPr>
          <p:nvPr/>
        </p:nvSpPr>
        <p:spPr>
          <a:xfrm>
            <a:off x="595856" y="1074213"/>
            <a:ext cx="9240520" cy="7214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rPr lang="zh-CN">
                <a:solidFill>
                  <a:srgbClr val="006659"/>
                </a:solidFill>
              </a:rPr>
              <a:t>两个工具，各自负责一件事</a:t>
            </a:r>
            <a:endParaRPr>
              <a:solidFill>
                <a:srgbClr val="006659"/>
              </a:solidFill>
            </a:endParaRPr>
          </a:p>
        </p:txBody>
      </p:sp>
      <p:sp>
        <p:nvSpPr>
          <p:cNvPr id="139" name=""/>
          <p:cNvSpPr/>
          <p:nvPr/>
        </p:nvSpPr>
        <p:spPr>
          <a:xfrm>
            <a:off x="596900" y="1968500"/>
            <a:ext cx="5207000" cy="4699000"/>
          </a:xfrm>
          <a:prstGeom prst="roundRect">
            <a:avLst>
              <a:gd name="adj" fmla="val 4376"/>
            </a:avLst>
          </a:prstGeom>
          <a:solidFill>
            <a:srgbClr val="F0F6F3"/>
          </a:solidFill>
          <a:ln w="25400">
            <a:solidFill>
              <a:srgbClr val="00665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0" name=""/>
          <p:cNvSpPr/>
          <p:nvPr/>
        </p:nvSpPr>
        <p:spPr>
          <a:xfrm>
            <a:off x="6350000" y="1968500"/>
            <a:ext cx="5207000" cy="4699000"/>
          </a:xfrm>
          <a:prstGeom prst="roundRect">
            <a:avLst>
              <a:gd name="adj" fmla="val 4376"/>
            </a:avLst>
          </a:prstGeom>
          <a:solidFill>
            <a:srgbClr val="FFF3E0"/>
          </a:solidFill>
          <a:ln w="25400">
            <a:solidFill>
              <a:srgbClr val="E6510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1" name=""/>
          <p:cNvSpPr/>
          <p:nvPr/>
        </p:nvSpPr>
        <p:spPr>
          <a:xfrm>
            <a:off x="889000" y="2133600"/>
            <a:ext cx="4572000" cy="444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>
                <a:solidFill>
                  <a:srgbClr val="006659"/>
                </a:solidFill>
              </a:rPr>
              <a:t>Obsidian</a:t>
            </a:r>
            <a:endParaRPr/>
          </a:p>
        </p:txBody>
      </p:sp>
      <p:sp>
        <p:nvSpPr>
          <p:cNvPr id="142" name=""/>
          <p:cNvSpPr/>
          <p:nvPr/>
        </p:nvSpPr>
        <p:spPr>
          <a:xfrm>
            <a:off x="889000" y="2667000"/>
            <a:ext cx="4572000" cy="317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>
                <a:solidFill>
                  <a:srgbClr val="006659"/>
                </a:solidFill>
              </a:rPr>
              <a:t>内容资产库 · 记住</a:t>
            </a:r>
            <a:endParaRPr/>
          </a:p>
        </p:txBody>
      </p:sp>
      <p:sp>
        <p:nvSpPr>
          <p:cNvPr id="143" name=""/>
          <p:cNvSpPr/>
          <p:nvPr/>
        </p:nvSpPr>
        <p:spPr>
          <a:xfrm>
            <a:off x="889000" y="3238500"/>
            <a:ext cx="4572000" cy="2476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333333"/>
                </a:solidFill>
              </a:rPr>
              <a:t>作用：把所有创作资产存到一个地方
存什么：
· 定位和用户画像
· 对标账号和内容素材
· 选题池、内容规律
· 草稿、修改记录、复盘
AI 每次创作都读它，
不用每次从头交代</a:t>
            </a:r>
            <a:endParaRPr/>
          </a:p>
        </p:txBody>
      </p:sp>
      <p:sp>
        <p:nvSpPr>
          <p:cNvPr id="144" name=""/>
          <p:cNvSpPr/>
          <p:nvPr/>
        </p:nvSpPr>
        <p:spPr>
          <a:xfrm>
            <a:off x="889000" y="5969000"/>
            <a:ext cx="4572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888888"/>
                </a:solidFill>
              </a:rPr>
              <a:t>替代：VS Code
文件夹 + Markdown 同样能用</a:t>
            </a:r>
            <a:endParaRPr/>
          </a:p>
        </p:txBody>
      </p:sp>
      <p:sp>
        <p:nvSpPr>
          <p:cNvPr id="145" name=""/>
          <p:cNvSpPr/>
          <p:nvPr/>
        </p:nvSpPr>
        <p:spPr>
          <a:xfrm>
            <a:off x="6642100" y="2133600"/>
            <a:ext cx="4572000" cy="444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>
                <a:solidFill>
                  <a:srgbClr val="E65100"/>
                </a:solidFill>
              </a:rPr>
              <a:t>Codex</a:t>
            </a:r>
            <a:endParaRPr/>
          </a:p>
        </p:txBody>
      </p:sp>
      <p:sp>
        <p:nvSpPr>
          <p:cNvPr id="146" name=""/>
          <p:cNvSpPr/>
          <p:nvPr/>
        </p:nvSpPr>
        <p:spPr>
          <a:xfrm>
            <a:off x="6642100" y="2667000"/>
            <a:ext cx="4572000" cy="317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>
                <a:solidFill>
                  <a:srgbClr val="E65100"/>
                </a:solidFill>
              </a:rPr>
              <a:t>执行助手 · 干活</a:t>
            </a:r>
            <a:endParaRPr/>
          </a:p>
        </p:txBody>
      </p:sp>
      <p:sp>
        <p:nvSpPr>
          <p:cNvPr id="147" name=""/>
          <p:cNvSpPr/>
          <p:nvPr/>
        </p:nvSpPr>
        <p:spPr>
          <a:xfrm>
            <a:off x="6642100" y="3238500"/>
            <a:ext cx="4572000" cy="2476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333333"/>
                </a:solidFill>
              </a:rPr>
              <a:t>作用：读取项目资产，按指令执行
干什么：
· 整理素材、生成选题
· 提炼规律、写初稿
· 修改内容、写复盘
· 读取和写入 Obsidian 文件
Skill 在 Codex 里运行，
把方法固定成可复用流程</a:t>
            </a:r>
            <a:endParaRPr/>
          </a:p>
        </p:txBody>
      </p:sp>
      <p:sp>
        <p:nvSpPr>
          <p:cNvPr id="148" name=""/>
          <p:cNvSpPr/>
          <p:nvPr/>
        </p:nvSpPr>
        <p:spPr>
          <a:xfrm>
            <a:off x="6642100" y="5969000"/>
            <a:ext cx="4572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888888"/>
                </a:solidFill>
              </a:rPr>
              <a:t>替代：WorkBuddy 或其他 AI 编程助手
能读写本地文件即可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596900" y="1016000"/>
            <a:ext cx="9245600" cy="63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800">
                <a:solidFill>
                  <a:srgbClr val="006659"/>
                </a:solidFill>
              </a:rPr>
              <a:t>Skill：把方法固定下来，一句话触发</a:t>
            </a:r>
            <a:endParaRPr/>
          </a:p>
        </p:txBody>
      </p:sp>
      <p:sp>
        <p:nvSpPr>
          <p:cNvPr id="151" name=""/>
          <p:cNvSpPr/>
          <p:nvPr/>
        </p:nvSpPr>
        <p:spPr>
          <a:xfrm>
            <a:off x="596900" y="1905000"/>
            <a:ext cx="92456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>
                <a:solidFill>
                  <a:srgbClr val="8B5A00"/>
                </a:solidFill>
              </a:rPr>
              <a:t>不是独立工具，是跑在 Codex 里的标准工作流</a:t>
            </a:r>
            <a:endParaRPr/>
          </a:p>
        </p:txBody>
      </p:sp>
      <p:sp>
        <p:nvSpPr>
          <p:cNvPr id="152" name=""/>
          <p:cNvSpPr/>
          <p:nvPr/>
        </p:nvSpPr>
        <p:spPr>
          <a:xfrm>
            <a:off x="596900" y="2540000"/>
            <a:ext cx="3556000" cy="1905000"/>
          </a:xfrm>
          <a:prstGeom prst="roundRect">
            <a:avLst>
              <a:gd name="adj" fmla="val 4376"/>
            </a:avLst>
          </a:prstGeom>
          <a:solidFill>
            <a:srgbClr val="F0F6F3"/>
          </a:solidFill>
          <a:ln w="19050">
            <a:solidFill>
              <a:srgbClr val="00665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3" name=""/>
          <p:cNvSpPr/>
          <p:nvPr/>
        </p:nvSpPr>
        <p:spPr>
          <a:xfrm>
            <a:off x="4318000" y="2540000"/>
            <a:ext cx="3556000" cy="1905000"/>
          </a:xfrm>
          <a:prstGeom prst="roundRect">
            <a:avLst>
              <a:gd name="adj" fmla="val 4376"/>
            </a:avLst>
          </a:prstGeom>
          <a:solidFill>
            <a:srgbClr val="F0F6F3"/>
          </a:solidFill>
          <a:ln w="19050">
            <a:solidFill>
              <a:srgbClr val="00665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4" name=""/>
          <p:cNvSpPr/>
          <p:nvPr/>
        </p:nvSpPr>
        <p:spPr>
          <a:xfrm>
            <a:off x="8039100" y="2540000"/>
            <a:ext cx="3556000" cy="1905000"/>
          </a:xfrm>
          <a:prstGeom prst="roundRect">
            <a:avLst>
              <a:gd name="adj" fmla="val 4376"/>
            </a:avLst>
          </a:prstGeom>
          <a:solidFill>
            <a:srgbClr val="F0F6F3"/>
          </a:solidFill>
          <a:ln w="19050">
            <a:solidFill>
              <a:srgbClr val="00665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5" name=""/>
          <p:cNvSpPr/>
          <p:nvPr/>
        </p:nvSpPr>
        <p:spPr>
          <a:xfrm>
            <a:off x="850900" y="26924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800">
                <a:solidFill>
                  <a:srgbClr val="006659"/>
                </a:solidFill>
              </a:rPr>
              <a:t>动作指令</a:t>
            </a:r>
            <a:endParaRPr/>
          </a:p>
        </p:txBody>
      </p:sp>
      <p:sp>
        <p:nvSpPr>
          <p:cNvPr id="156" name=""/>
          <p:cNvSpPr/>
          <p:nvPr/>
        </p:nvSpPr>
        <p:spPr>
          <a:xfrm>
            <a:off x="850900" y="3149600"/>
            <a:ext cx="3048000" cy="1206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333333"/>
                </a:solidFill>
              </a:rPr>
              <a:t>AI 具体做什么
读取哪些文件
生成什么结果
写入哪个位置</a:t>
            </a:r>
            <a:endParaRPr/>
          </a:p>
        </p:txBody>
      </p:sp>
      <p:sp>
        <p:nvSpPr>
          <p:cNvPr id="157" name=""/>
          <p:cNvSpPr/>
          <p:nvPr/>
        </p:nvSpPr>
        <p:spPr>
          <a:xfrm>
            <a:off x="4572000" y="26924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800">
                <a:solidFill>
                  <a:srgbClr val="006659"/>
                </a:solidFill>
              </a:rPr>
              <a:t>判断标准</a:t>
            </a:r>
            <a:endParaRPr/>
          </a:p>
        </p:txBody>
      </p:sp>
      <p:sp>
        <p:nvSpPr>
          <p:cNvPr id="158" name=""/>
          <p:cNvSpPr/>
          <p:nvPr/>
        </p:nvSpPr>
        <p:spPr>
          <a:xfrm>
            <a:off x="4572000" y="3149600"/>
            <a:ext cx="3048000" cy="1206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333333"/>
                </a:solidFill>
              </a:rPr>
              <a:t>怎样算合格
来源是否真实
问题是否具体
有没有编造信息</a:t>
            </a:r>
            <a:endParaRPr/>
          </a:p>
        </p:txBody>
      </p:sp>
      <p:sp>
        <p:nvSpPr>
          <p:cNvPr id="159" name=""/>
          <p:cNvSpPr/>
          <p:nvPr/>
        </p:nvSpPr>
        <p:spPr>
          <a:xfrm>
            <a:off x="8293100" y="26924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800">
                <a:solidFill>
                  <a:srgbClr val="006659"/>
                </a:solidFill>
              </a:rPr>
              <a:t>执行边界</a:t>
            </a:r>
            <a:endParaRPr/>
          </a:p>
        </p:txBody>
      </p:sp>
      <p:sp>
        <p:nvSpPr>
          <p:cNvPr id="160" name=""/>
          <p:cNvSpPr/>
          <p:nvPr/>
        </p:nvSpPr>
        <p:spPr>
          <a:xfrm>
            <a:off x="8293100" y="3149600"/>
            <a:ext cx="3048000" cy="1206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333333"/>
                </a:solidFill>
              </a:rPr>
              <a:t>哪些不能做
不编造经历和数据
不覆盖已有内容
不擅自补全未知信息</a:t>
            </a:r>
            <a:endParaRPr/>
          </a:p>
        </p:txBody>
      </p:sp>
      <p:sp>
        <p:nvSpPr>
          <p:cNvPr id="161" name=""/>
          <p:cNvSpPr/>
          <p:nvPr/>
        </p:nvSpPr>
        <p:spPr>
          <a:xfrm>
            <a:off x="596900" y="4826000"/>
            <a:ext cx="5461000" cy="1778000"/>
          </a:xfrm>
          <a:prstGeom prst="roundRect">
            <a:avLst>
              <a:gd name="adj" fmla="val 4376"/>
            </a:avLst>
          </a:prstGeom>
          <a:solidFill>
            <a:srgbClr val="F5F5F5"/>
          </a:solidFill>
          <a:ln w="12700">
            <a:solidFill>
              <a:srgbClr val="BBBBB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2" name=""/>
          <p:cNvSpPr/>
          <p:nvPr/>
        </p:nvSpPr>
        <p:spPr>
          <a:xfrm>
            <a:off x="6350000" y="4826000"/>
            <a:ext cx="5245100" cy="1778000"/>
          </a:xfrm>
          <a:prstGeom prst="roundRect">
            <a:avLst>
              <a:gd name="adj" fmla="val 4376"/>
            </a:avLst>
          </a:prstGeom>
          <a:solidFill>
            <a:srgbClr val="F0F6F3"/>
          </a:solidFill>
          <a:ln w="19050">
            <a:solidFill>
              <a:srgbClr val="00665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3" name=""/>
          <p:cNvSpPr/>
          <p:nvPr/>
        </p:nvSpPr>
        <p:spPr>
          <a:xfrm>
            <a:off x="850900" y="4978400"/>
            <a:ext cx="4953000" cy="317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888888"/>
                </a:solidFill>
              </a:rPr>
              <a:t>没有 Skill</a:t>
            </a:r>
            <a:endParaRPr/>
          </a:p>
        </p:txBody>
      </p:sp>
      <p:sp>
        <p:nvSpPr>
          <p:cNvPr id="164" name=""/>
          <p:cNvSpPr/>
          <p:nvPr/>
        </p:nvSpPr>
        <p:spPr>
          <a:xfrm>
            <a:off x="850900" y="5359400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666666">
                    <a:alpha val="100000"/>
                  </a:srgbClr>
                </a:solidFill>
              </a:rPr>
              <a:t>如果你要生成选题，每次都要发一大段提示词：
"请读取定位和素材，检查数量，
生成 5-10 个选题，每个写清
写给谁、解决什么，不要编造，
来源写路径……"</a:t>
            </a:r>
            <a:endParaRPr/>
          </a:p>
        </p:txBody>
      </p:sp>
      <p:sp>
        <p:nvSpPr>
          <p:cNvPr id="165" name=""/>
          <p:cNvSpPr/>
          <p:nvPr/>
        </p:nvSpPr>
        <p:spPr>
          <a:xfrm>
            <a:off x="6604000" y="4978400"/>
            <a:ext cx="4737100" cy="317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006659"/>
                </a:solidFill>
              </a:rPr>
              <a:t>有了 Skill</a:t>
            </a:r>
            <a:endParaRPr/>
          </a:p>
        </p:txBody>
      </p:sp>
      <p:sp>
        <p:nvSpPr>
          <p:cNvPr id="166" name=""/>
          <p:cNvSpPr/>
          <p:nvPr/>
        </p:nvSpPr>
        <p:spPr>
          <a:xfrm>
            <a:off x="6604000" y="5359400"/>
            <a:ext cx="4737100" cy="1143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333333"/>
                </a:solidFill>
              </a:rPr>
              <a:t>一句话触发：
"帮我生成新选题。"
AI 自动读取、按标准生成、写入选题池。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文本框 2"/>
          <p:cNvSpPr>
            <a:spLocks noGrp="1"/>
          </p:cNvSpPr>
          <p:nvPr/>
        </p:nvSpPr>
        <p:spPr>
          <a:xfrm>
            <a:off x="1976784" y="2674237"/>
            <a:ext cx="2868586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3600" b="1">
                <a:solidFill>
                  <a:srgbClr val="006659"/>
                </a:solidFill>
                <a:latin typeface="Source Han Serif CN"/>
                <a:ea typeface="Source Han Serif CN"/>
                <a:cs typeface="Source Han Serif CN"/>
              </a:rPr>
              <a:t>04</a:t>
            </a:r>
            <a:endParaRPr sz="3600" b="1">
              <a:solidFill>
                <a:srgbClr val="006659"/>
              </a:solidFill>
              <a:latin typeface="Source Han Serif CN"/>
              <a:ea typeface="Source Han Serif CN"/>
              <a:cs typeface="Source Han Serif CN"/>
            </a:endParaRPr>
          </a:p>
        </p:txBody>
      </p:sp>
      <p:sp>
        <p:nvSpPr>
          <p:cNvPr id="169" name="文本框 1"/>
          <p:cNvSpPr>
            <a:spLocks noGrp="1"/>
          </p:cNvSpPr>
          <p:nvPr/>
        </p:nvSpPr>
        <p:spPr>
          <a:xfrm>
            <a:off x="4356972" y="2751749"/>
            <a:ext cx="6477000" cy="73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/>
              <a:t>用一个案例跑通完整工作流</a:t>
            </a:r>
            <a:endParaRPr/>
          </a:p>
        </p:txBody>
      </p:sp>
      <p:sp>
        <p:nvSpPr>
          <p:cNvPr id="170" name="直线连接符 6"/>
          <p:cNvSpPr>
            <a:spLocks noGrp="1"/>
          </p:cNvSpPr>
          <p:nvPr/>
        </p:nvSpPr>
        <p:spPr>
          <a:xfrm>
            <a:off x="3940438" y="2798647"/>
            <a:ext cx="0" cy="634042"/>
          </a:xfrm>
          <a:prstGeom prst="line">
            <a:avLst/>
          </a:prstGeom>
          <a:ln w="38100">
            <a:solidFill>
              <a:srgbClr val="0066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>
            <a:pPr/>
            <a:endParaRPr/>
          </a:p>
        </p:txBody>
      </p:sp>
      <p:pic>
        <p:nvPicPr>
          <p:cNvPr id="171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755763">
            <a:off x="1461703" y="2324065"/>
            <a:ext cx="2271865" cy="18079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文本框 2"/>
          <p:cNvSpPr>
            <a:spLocks noGrp="1"/>
          </p:cNvSpPr>
          <p:nvPr/>
        </p:nvSpPr>
        <p:spPr>
          <a:xfrm>
            <a:off x="595856" y="1073578"/>
            <a:ext cx="9240520" cy="7214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rPr lang="zh-CN">
                <a:solidFill>
                  <a:srgbClr val="006659"/>
                </a:solidFill>
              </a:rPr>
              <a:t>第一步：创建你的内容工作台</a:t>
            </a:r>
            <a:endParaRPr>
              <a:solidFill>
                <a:srgbClr val="006659"/>
              </a:solidFill>
            </a:endParaRPr>
          </a:p>
        </p:txBody>
      </p:sp>
      <p:sp>
        <p:nvSpPr>
          <p:cNvPr id="174" name=""/>
          <p:cNvSpPr/>
          <p:nvPr/>
        </p:nvSpPr>
        <p:spPr>
          <a:xfrm>
            <a:off x="596900" y="1905000"/>
            <a:ext cx="109982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>
                <a:solidFill>
                  <a:srgbClr val="8B5A00"/>
                </a:solidFill>
              </a:rPr>
              <a:t>在 Obsidian 里新建 Vault，建好 7 个文件夹</a:t>
            </a:r>
            <a:endParaRPr/>
          </a:p>
        </p:txBody>
      </p:sp>
      <p:sp>
        <p:nvSpPr>
          <p:cNvPr id="175" name=""/>
          <p:cNvSpPr/>
          <p:nvPr/>
        </p:nvSpPr>
        <p:spPr>
          <a:xfrm>
            <a:off x="596900" y="2540000"/>
            <a:ext cx="5842000" cy="406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333333"/>
                </a:solidFill>
              </a:rPr>
              <a:t>AI第二大脑_内容创作系统/
├── 00_个人背景/
│   定位总览、账号包装
├── 01_对标账号/
│   搜集的对标账号
├── 02_内容素材/
│   搜集的对标内容
├── 03_内容规律/
│   标题、开头、正文规律
├── 04_选题库/
│   选题池
├── 05_内容草稿/
│   素材包、初稿、修改记录
└── 06_发布复盘/
    发布数据和复盘</a:t>
            </a:r>
            <a:endParaRPr/>
          </a:p>
        </p:txBody>
      </p:sp>
      <p:sp>
        <p:nvSpPr>
          <p:cNvPr id="176" name=""/>
          <p:cNvSpPr/>
          <p:nvPr/>
        </p:nvSpPr>
        <p:spPr>
          <a:xfrm>
            <a:off x="6667500" y="2413000"/>
            <a:ext cx="5118100" cy="2159000"/>
          </a:xfrm>
          <a:prstGeom prst="roundRect">
            <a:avLst>
              <a:gd name="adj" fmla="val 4376"/>
            </a:avLst>
          </a:prstGeom>
          <a:solidFill>
            <a:srgbClr val="F0F6F3"/>
          </a:solidFill>
          <a:ln w="19050">
            <a:solidFill>
              <a:srgbClr val="00665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7" name=""/>
          <p:cNvSpPr/>
          <p:nvPr/>
        </p:nvSpPr>
        <p:spPr>
          <a:xfrm>
            <a:off x="6667500" y="4572000"/>
            <a:ext cx="5118100" cy="2032000"/>
          </a:xfrm>
          <a:prstGeom prst="roundRect">
            <a:avLst>
              <a:gd name="adj" fmla="val 4376"/>
            </a:avLst>
          </a:prstGeom>
          <a:solidFill>
            <a:srgbClr val="F0F6F3"/>
          </a:solidFill>
          <a:ln w="19050">
            <a:solidFill>
              <a:srgbClr val="00665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8" name=""/>
          <p:cNvSpPr/>
          <p:nvPr/>
        </p:nvSpPr>
        <p:spPr>
          <a:xfrm>
            <a:off x="6858000" y="2540000"/>
            <a:ext cx="4737100" cy="190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333333"/>
                </a:solidFill>
              </a:rPr>
              <a:t>为什么一开始就要建好？
后面每一步的结果都会写入
对应的文件夹。一开始建好，
AI 就知道往哪里读、往哪里写，
不用每次重新交代。</a:t>
            </a:r>
            <a:endParaRPr/>
          </a:p>
        </p:txBody>
      </p:sp>
      <p:sp>
        <p:nvSpPr>
          <p:cNvPr id="179" name=""/>
          <p:cNvSpPr/>
          <p:nvPr/>
        </p:nvSpPr>
        <p:spPr>
          <a:xfrm>
            <a:off x="6858000" y="4699000"/>
            <a:ext cx="4737100" cy="177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333333"/>
                </a:solidFill>
              </a:rPr>
              <a:t>同时创建项目配置文件
Codex 用 AGENTS.md
Claude Code 用 CLAUDE.md
写入通用规则：不编造、
来源写路径、不覆盖已有内容。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"/>
          <p:cNvSpPr>
            <a:spLocks noGrp="1"/>
          </p:cNvSpPr>
          <p:nvPr/>
        </p:nvSpPr>
        <p:spPr>
          <a:xfrm>
            <a:off x="595856" y="1074213"/>
            <a:ext cx="9240520" cy="7214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rPr>
                <a:solidFill>
                  <a:srgbClr val="006659"/>
                </a:solidFill>
              </a:rPr>
              <a:t>01 定位：先确定判断标准</a:t>
            </a:r>
            <a:endParaRPr>
              <a:solidFill>
                <a:srgbClr val="006659"/>
              </a:solidFill>
            </a:endParaRPr>
          </a:p>
        </p:txBody>
      </p:sp>
      <p:sp>
        <p:nvSpPr>
          <p:cNvPr id="6" name="文本框 8"/>
          <p:cNvSpPr>
            <a:spLocks noGrp="1"/>
          </p:cNvSpPr>
          <p:nvPr/>
        </p:nvSpPr>
        <p:spPr>
          <a:xfrm>
            <a:off x="914400" y="2095500"/>
            <a:ext cx="10363200" cy="7239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>
              <a:buNone/>
            </a:pPr>
            <a:r>
              <a:rPr lang="zh-CN">
                <a:solidFill>
                  <a:srgbClr val="8B5A00">
                    <a:alpha val="100000"/>
                  </a:srgbClr>
                </a:solidFill>
              </a:rPr>
              <a:t>安装“航海家定位官”</a:t>
            </a:r>
            <a:r>
              <a:rPr lang="en-US">
                <a:solidFill>
                  <a:srgbClr val="8B5A00">
                    <a:alpha val="100000"/>
                  </a:srgbClr>
                </a:solidFill>
              </a:rPr>
              <a:t>Skill</a:t>
            </a:r>
            <a:endParaRPr/>
          </a:p>
        </p:txBody>
      </p:sp>
      <p:sp>
        <p:nvSpPr>
          <p:cNvPr id="7" name="文本框 9"/>
          <p:cNvSpPr>
            <a:spLocks noGrp="1"/>
          </p:cNvSpPr>
          <p:nvPr/>
        </p:nvSpPr>
        <p:spPr>
          <a:xfrm rot="0" flipH="0" flipV="0">
            <a:off x="914400" y="3119225"/>
            <a:ext cx="10363200" cy="1187450"/>
          </a:xfrm>
          <a:prstGeom prst="rect">
            <a:avLst/>
          </a:prstGeom>
          <a:solidFill>
            <a:srgbClr val="E7F6F1"/>
          </a:solidFill>
          <a:ln w="14288">
            <a:solidFill>
              <a:srgbClr val="78BFAE"/>
            </a:solidFill>
            <a:prstDash val="solid"/>
          </a:ln>
        </p:spPr>
        <p:txBody>
          <a:bodyPr wrap="square">
            <a:spAutoFit/>
          </a:bodyPr>
          <a:lstStyle/>
          <a:p>
            <a:pPr indent="0" algn="l">
              <a:lnSpc>
                <a:spcPct val="200000"/>
              </a:lnSpc>
              <a:buFont typeface="Wingdings" panose="05000000000000000000"/>
              <a:buNone/>
            </a:pPr>
            <a:r>
              <a:rPr lang="zh-CN">
                <a:solidFill>
                  <a:srgbClr val="111111">
                    <a:alpha val="100000"/>
                  </a:srgbClr>
                </a:solidFill>
              </a:rPr>
              <a:t>请使用 skill-installer 安装这个 GitHub Skill：
https://github.com/wangguoqing123/shengcai-positioning-interview</a:t>
            </a:r>
            <a:endParaRPr/>
          </a:p>
        </p:txBody>
      </p:sp>
      <p:sp>
        <p:nvSpPr>
          <p:cNvPr id="8" name=""/>
          <p:cNvSpPr txBox="1"/>
          <p:nvPr/>
        </p:nvSpPr>
        <p:spPr>
          <a:xfrm rot="0" flipH="0" flipV="0">
            <a:off x="914400" y="4606500"/>
            <a:ext cx="4978400" cy="36830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zh-CN"/>
              <a:t>根据提示，一步步回答问题，完整账号定位规划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2"/>
          <p:cNvSpPr>
            <a:spLocks noGrp="1"/>
          </p:cNvSpPr>
          <p:nvPr/>
        </p:nvSpPr>
        <p:spPr>
          <a:xfrm>
            <a:off x="595856" y="1073578"/>
            <a:ext cx="9245600" cy="7239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>
              <a:buNone/>
            </a:pPr>
            <a:r>
              <a:rPr>
                <a:solidFill>
                  <a:srgbClr val="006659">
                    <a:alpha val="100000"/>
                  </a:srgbClr>
                </a:solidFill>
              </a:rPr>
              <a:t>02 </a:t>
            </a:r>
            <a:r>
              <a:rPr lang="zh-CN">
                <a:solidFill>
                  <a:srgbClr val="006659">
                    <a:alpha val="100000"/>
                  </a:srgbClr>
                </a:solidFill>
              </a:rPr>
              <a:t>生成搜索词、</a:t>
            </a:r>
            <a:r>
              <a:rPr lang="zh-CN">
                <a:solidFill>
                  <a:srgbClr val="006659">
                    <a:alpha val="100000"/>
                  </a:srgbClr>
                </a:solidFill>
              </a:rPr>
              <a:t>找对标、存素材</a:t>
            </a:r>
            <a:endParaRPr/>
          </a:p>
        </p:txBody>
      </p:sp>
      <p:pic>
        <p:nvPicPr>
          <p:cNvPr id="11" name=""/>
          <p:cNvPicPr>
            <a:picLocks noChangeAspect="1"/>
          </p:cNvPicPr>
          <p:nvPr/>
        </p:nvPicPr>
        <p:blipFill>
          <a:blip r:embed=""/>
          <a:stretch>
            <a:fillRect/>
          </a:stretch>
        </p:blipFill>
        <p:spPr>
          <a:xfrm rot="0" flipH="0" flipV="0">
            <a:off x="358168" y="2488733"/>
            <a:ext cx="4028878" cy="2978529"/>
          </a:xfrm>
          <a:prstGeom prst="rect"/>
        </p:spPr>
      </p:pic>
      <p:pic>
        <p:nvPicPr>
          <p:cNvPr id="12" name=""/>
          <p:cNvPicPr>
            <a:picLocks noChangeAspect="1"/>
          </p:cNvPicPr>
          <p:nvPr/>
        </p:nvPicPr>
        <p:blipFill>
          <a:blip r:embed=""/>
          <a:srcRect l="21132" t="0" r="0" b="0"/>
          <a:stretch>
            <a:fillRect/>
          </a:stretch>
        </p:blipFill>
        <p:spPr>
          <a:xfrm rot="0" flipH="0" flipV="0">
            <a:off x="4723952" y="2488733"/>
            <a:ext cx="3794300" cy="2978529"/>
          </a:xfrm>
          <a:prstGeom prst="rect"/>
        </p:spPr>
      </p:pic>
      <p:pic>
        <p:nvPicPr>
          <p:cNvPr id="13" name=""/>
          <p:cNvPicPr>
            <a:picLocks noChangeAspect="1"/>
          </p:cNvPicPr>
          <p:nvPr/>
        </p:nvPicPr>
        <p:blipFill>
          <a:blip r:embed=""/>
          <a:srcRect l="0" t="0" r="24511" b="0"/>
          <a:stretch>
            <a:fillRect/>
          </a:stretch>
        </p:blipFill>
        <p:spPr>
          <a:xfrm rot="0" flipH="0" flipV="0">
            <a:off x="8757286" y="2488733"/>
            <a:ext cx="3229625" cy="2978529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2"/>
          <p:cNvSpPr>
            <a:spLocks noGrp="1"/>
          </p:cNvSpPr>
          <p:nvPr/>
        </p:nvSpPr>
        <p:spPr>
          <a:xfrm>
            <a:off x="595856" y="1073578"/>
            <a:ext cx="9240520" cy="7214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rPr lang="zh-CN">
                <a:solidFill>
                  <a:srgbClr val="006659"/>
                </a:solidFill>
              </a:rPr>
              <a:t>04 规律：从高赞内容中提炼可复用结构</a:t>
            </a:r>
            <a:endParaRPr>
              <a:solidFill>
                <a:srgbClr val="006659"/>
              </a:solidFill>
            </a:endParaRPr>
          </a:p>
        </p:txBody>
      </p:sp>
      <p:sp>
        <p:nvSpPr>
          <p:cNvPr id="16" name=""/>
          <p:cNvSpPr/>
          <p:nvPr/>
        </p:nvSpPr>
        <p:spPr>
          <a:xfrm>
            <a:off x="596900" y="1905000"/>
            <a:ext cx="10998200" cy="317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8B5A00"/>
                </a:solidFill>
              </a:rPr>
              <a:t>搜集足够多的爆款文章后，按这个循环持续提炼和更新规律</a:t>
            </a:r>
            <a:endParaRPr/>
          </a:p>
        </p:txBody>
      </p:sp>
      <p:sp>
        <p:nvSpPr>
          <p:cNvPr id="17" name=""/>
          <p:cNvSpPr/>
          <p:nvPr/>
        </p:nvSpPr>
        <p:spPr>
          <a:xfrm>
            <a:off x="596900" y="2667000"/>
            <a:ext cx="2540000" cy="1651000"/>
          </a:xfrm>
          <a:prstGeom prst="roundRect">
            <a:avLst>
              <a:gd name="adj" fmla="val 4376"/>
            </a:avLst>
          </a:prstGeom>
          <a:solidFill>
            <a:srgbClr val="FFF3E0"/>
          </a:solidFill>
          <a:ln w="25400">
            <a:solidFill>
              <a:srgbClr val="E6510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" name=""/>
          <p:cNvSpPr/>
          <p:nvPr/>
        </p:nvSpPr>
        <p:spPr>
          <a:xfrm>
            <a:off x="3429000" y="2667000"/>
            <a:ext cx="2540000" cy="1651000"/>
          </a:xfrm>
          <a:prstGeom prst="roundRect">
            <a:avLst>
              <a:gd name="adj" fmla="val 4376"/>
            </a:avLst>
          </a:prstGeom>
          <a:solidFill>
            <a:srgbClr val="F0F6F3"/>
          </a:solidFill>
          <a:ln w="25400">
            <a:solidFill>
              <a:srgbClr val="00665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" name=""/>
          <p:cNvSpPr/>
          <p:nvPr/>
        </p:nvSpPr>
        <p:spPr>
          <a:xfrm>
            <a:off x="6261100" y="2667000"/>
            <a:ext cx="2540000" cy="1651000"/>
          </a:xfrm>
          <a:prstGeom prst="roundRect">
            <a:avLst>
              <a:gd name="adj" fmla="val 4376"/>
            </a:avLst>
          </a:prstGeom>
          <a:solidFill>
            <a:srgbClr val="F0F6F3"/>
          </a:solidFill>
          <a:ln w="25400">
            <a:solidFill>
              <a:srgbClr val="00665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" name=""/>
          <p:cNvSpPr/>
          <p:nvPr/>
        </p:nvSpPr>
        <p:spPr>
          <a:xfrm>
            <a:off x="9093200" y="2667000"/>
            <a:ext cx="2540000" cy="1651000"/>
          </a:xfrm>
          <a:prstGeom prst="roundRect">
            <a:avLst>
              <a:gd name="adj" fmla="val 4376"/>
            </a:avLst>
          </a:prstGeom>
          <a:solidFill>
            <a:srgbClr val="FFF3E0"/>
          </a:solidFill>
          <a:ln w="25400">
            <a:solidFill>
              <a:srgbClr val="E6510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" name=""/>
          <p:cNvSpPr/>
          <p:nvPr/>
        </p:nvSpPr>
        <p:spPr>
          <a:xfrm>
            <a:off x="787400" y="2819400"/>
            <a:ext cx="2159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E65100"/>
                </a:solidFill>
              </a:rPr>
              <a:t>① 搜集爆款文章</a:t>
            </a:r>
            <a:endParaRPr/>
          </a:p>
        </p:txBody>
      </p:sp>
      <p:sp>
        <p:nvSpPr>
          <p:cNvPr id="22" name=""/>
          <p:cNvSpPr/>
          <p:nvPr/>
        </p:nvSpPr>
        <p:spPr>
          <a:xfrm>
            <a:off x="787400" y="3238500"/>
            <a:ext cx="2159000" cy="952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333333"/>
                </a:solidFill>
              </a:rPr>
              <a:t>人搜集 10 条以上
对标内容
小红书高赞笔记
用社媒助手复制</a:t>
            </a:r>
            <a:endParaRPr/>
          </a:p>
        </p:txBody>
      </p:sp>
      <p:sp>
        <p:nvSpPr>
          <p:cNvPr id="23" name=""/>
          <p:cNvSpPr/>
          <p:nvPr/>
        </p:nvSpPr>
        <p:spPr>
          <a:xfrm>
            <a:off x="3619500" y="2819400"/>
            <a:ext cx="2159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006659"/>
                </a:solidFill>
              </a:rPr>
              <a:t>② AI 建立底稿</a:t>
            </a:r>
            <a:endParaRPr/>
          </a:p>
        </p:txBody>
      </p:sp>
      <p:sp>
        <p:nvSpPr>
          <p:cNvPr id="24" name=""/>
          <p:cNvSpPr/>
          <p:nvPr/>
        </p:nvSpPr>
        <p:spPr>
          <a:xfrm>
            <a:off x="3619500" y="3238500"/>
            <a:ext cx="2159000" cy="952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333333"/>
                </a:solidFill>
              </a:rPr>
              <a:t>AI 按提示词执行
把每条内容按
统一字段整理：
标题、开头、正文结构</a:t>
            </a:r>
            <a:endParaRPr/>
          </a:p>
        </p:txBody>
      </p:sp>
      <p:sp>
        <p:nvSpPr>
          <p:cNvPr id="25" name=""/>
          <p:cNvSpPr/>
          <p:nvPr/>
        </p:nvSpPr>
        <p:spPr>
          <a:xfrm>
            <a:off x="6451600" y="2819400"/>
            <a:ext cx="2159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006659"/>
                </a:solidFill>
              </a:rPr>
              <a:t>③ 提炼三类规律</a:t>
            </a:r>
            <a:endParaRPr/>
          </a:p>
        </p:txBody>
      </p:sp>
      <p:sp>
        <p:nvSpPr>
          <p:cNvPr id="26" name=""/>
          <p:cNvSpPr/>
          <p:nvPr/>
        </p:nvSpPr>
        <p:spPr>
          <a:xfrm>
            <a:off x="6451600" y="3238500"/>
            <a:ext cx="2159000" cy="952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333333"/>
                </a:solidFill>
              </a:rPr>
              <a:t>AI 按提示词执行
标题规律
开头规律
正文结构规律
人工确认每条</a:t>
            </a:r>
            <a:endParaRPr/>
          </a:p>
        </p:txBody>
      </p:sp>
      <p:sp>
        <p:nvSpPr>
          <p:cNvPr id="27" name=""/>
          <p:cNvSpPr/>
          <p:nvPr/>
        </p:nvSpPr>
        <p:spPr>
          <a:xfrm>
            <a:off x="9283700" y="2819400"/>
            <a:ext cx="2159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E65100"/>
                </a:solidFill>
              </a:rPr>
              <a:t>④ 再搜集更多</a:t>
            </a:r>
            <a:endParaRPr/>
          </a:p>
        </p:txBody>
      </p:sp>
      <p:sp>
        <p:nvSpPr>
          <p:cNvPr id="28" name=""/>
          <p:cNvSpPr/>
          <p:nvPr/>
        </p:nvSpPr>
        <p:spPr>
          <a:xfrm>
            <a:off x="9283700" y="3238500"/>
            <a:ext cx="2159000" cy="952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333333"/>
                </a:solidFill>
              </a:rPr>
              <a:t>持续补充新内容
规律不断更新
越积越准</a:t>
            </a:r>
            <a:endParaRPr/>
          </a:p>
        </p:txBody>
      </p:sp>
      <p:sp>
        <p:nvSpPr>
          <p:cNvPr id="29" name=""/>
          <p:cNvSpPr/>
          <p:nvPr/>
        </p:nvSpPr>
        <p:spPr>
          <a:xfrm>
            <a:off x="3136900" y="3492500"/>
            <a:ext cx="292100" cy="0"/>
          </a:xfrm>
          <a:prstGeom prst="line">
            <a:avLst/>
          </a:prstGeom>
          <a:noFill/>
          <a:ln w="31750">
            <a:solidFill>
              <a:srgbClr val="333333"/>
            </a:solidFill>
            <a:prstDash val="solid"/>
            <a:tailEnd type="triangle"/>
          </a:ln>
        </p:spPr>
        <p:txBody>
          <a:bodyPr/>
          <a:p>
            <a:pPr/>
            <a:endParaRPr/>
          </a:p>
        </p:txBody>
      </p:sp>
      <p:sp>
        <p:nvSpPr>
          <p:cNvPr id="30" name=""/>
          <p:cNvSpPr/>
          <p:nvPr/>
        </p:nvSpPr>
        <p:spPr>
          <a:xfrm>
            <a:off x="5969000" y="3492500"/>
            <a:ext cx="292100" cy="0"/>
          </a:xfrm>
          <a:prstGeom prst="line">
            <a:avLst/>
          </a:prstGeom>
          <a:noFill/>
          <a:ln w="31750">
            <a:solidFill>
              <a:srgbClr val="333333"/>
            </a:solidFill>
            <a:prstDash val="solid"/>
            <a:tailEnd type="triangle"/>
          </a:ln>
        </p:spPr>
        <p:txBody>
          <a:bodyPr/>
          <a:p>
            <a:pPr/>
            <a:endParaRPr/>
          </a:p>
        </p:txBody>
      </p:sp>
      <p:sp>
        <p:nvSpPr>
          <p:cNvPr id="31" name=""/>
          <p:cNvSpPr/>
          <p:nvPr/>
        </p:nvSpPr>
        <p:spPr>
          <a:xfrm>
            <a:off x="8801100" y="3492500"/>
            <a:ext cx="292100" cy="0"/>
          </a:xfrm>
          <a:prstGeom prst="line">
            <a:avLst/>
          </a:prstGeom>
          <a:noFill/>
          <a:ln w="31750">
            <a:solidFill>
              <a:srgbClr val="333333"/>
            </a:solidFill>
            <a:prstDash val="solid"/>
            <a:tailEnd type="triangle"/>
          </a:ln>
        </p:spPr>
        <p:txBody>
          <a:bodyPr/>
          <a:p>
            <a:pPr/>
            <a:endParaRPr/>
          </a:p>
        </p:txBody>
      </p:sp>
      <p:sp>
        <p:nvSpPr>
          <p:cNvPr id="32" name=""/>
          <p:cNvSpPr/>
          <p:nvPr/>
        </p:nvSpPr>
        <p:spPr>
          <a:xfrm>
            <a:off x="10363200" y="4318000"/>
            <a:ext cx="0" cy="762000"/>
          </a:xfrm>
          <a:prstGeom prst="line">
            <a:avLst/>
          </a:prstGeom>
          <a:noFill/>
          <a:ln w="25400">
            <a:solidFill>
              <a:srgbClr val="888888"/>
            </a:solidFill>
            <a:prstDash val="dash"/>
          </a:ln>
        </p:spPr>
        <p:txBody>
          <a:bodyPr/>
          <a:p>
            <a:pPr/>
            <a:endParaRPr/>
          </a:p>
        </p:txBody>
      </p:sp>
      <p:sp>
        <p:nvSpPr>
          <p:cNvPr id="33" name=""/>
          <p:cNvSpPr/>
          <p:nvPr/>
        </p:nvSpPr>
        <p:spPr>
          <a:xfrm flipH="1">
            <a:off x="1866900" y="5080000"/>
            <a:ext cx="849630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dash"/>
          </a:ln>
        </p:spPr>
        <p:txBody>
          <a:bodyPr/>
          <a:p>
            <a:pPr/>
            <a:endParaRPr/>
          </a:p>
        </p:txBody>
      </p:sp>
      <p:sp>
        <p:nvSpPr>
          <p:cNvPr id="34" name=""/>
          <p:cNvSpPr/>
          <p:nvPr/>
        </p:nvSpPr>
        <p:spPr>
          <a:xfrm flipV="1">
            <a:off x="1866900" y="4318000"/>
            <a:ext cx="0" cy="762000"/>
          </a:xfrm>
          <a:prstGeom prst="line">
            <a:avLst/>
          </a:prstGeom>
          <a:noFill/>
          <a:ln w="25400">
            <a:solidFill>
              <a:srgbClr val="888888"/>
            </a:solidFill>
            <a:prstDash val="dash"/>
            <a:tailEnd type="triangle"/>
          </a:ln>
        </p:spPr>
        <p:txBody>
          <a:bodyPr/>
          <a:p>
            <a:pPr/>
            <a:endParaRPr/>
          </a:p>
        </p:txBody>
      </p:sp>
      <p:sp>
        <p:nvSpPr>
          <p:cNvPr id="35" name=""/>
          <p:cNvSpPr/>
          <p:nvPr/>
        </p:nvSpPr>
        <p:spPr>
          <a:xfrm>
            <a:off x="4826000" y="5181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888888"/>
                </a:solidFill>
              </a:rPr>
              <a:t>新内容持续补充，规律循环更新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2"/>
          <p:cNvSpPr>
            <a:spLocks noGrp="1"/>
          </p:cNvSpPr>
          <p:nvPr/>
        </p:nvSpPr>
        <p:spPr>
          <a:xfrm>
            <a:off x="595856" y="1074213"/>
            <a:ext cx="9240520" cy="7214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rPr>
                <a:solidFill>
                  <a:srgbClr val="006659"/>
                </a:solidFill>
              </a:rPr>
              <a:t>03 选题：先确定要解决的问题</a:t>
            </a:r>
            <a:endParaRPr>
              <a:solidFill>
                <a:srgbClr val="006659"/>
              </a:solidFill>
            </a:endParaRPr>
          </a:p>
        </p:txBody>
      </p:sp>
      <p:sp>
        <p:nvSpPr>
          <p:cNvPr id="38" name="文本框 8"/>
          <p:cNvSpPr>
            <a:spLocks noGrp="1"/>
          </p:cNvSpPr>
          <p:nvPr/>
        </p:nvSpPr>
        <p:spPr>
          <a:xfrm>
            <a:off x="914400" y="2095500"/>
            <a:ext cx="103632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rPr>
                <a:solidFill>
                  <a:srgbClr val="8B5A00"/>
                </a:solidFill>
              </a:rPr>
              <a:t>输入：定位 + 素材｜输出：5—10 个候选选题</a:t>
            </a:r>
            <a:endParaRPr>
              <a:solidFill>
                <a:srgbClr val="8B5A00"/>
              </a:solidFill>
            </a:endParaRPr>
          </a:p>
        </p:txBody>
      </p:sp>
      <p:pic>
        <p:nvPicPr>
          <p:cNvPr id="39" name=""/>
          <p:cNvPicPr>
            <a:picLocks noChangeAspect="1"/>
          </p:cNvPicPr>
          <p:nvPr/>
        </p:nvPicPr>
        <p:blipFill>
          <a:blip r:embed=""/>
          <a:stretch>
            <a:fillRect/>
          </a:stretch>
        </p:blipFill>
        <p:spPr>
          <a:xfrm rot="0" flipH="0" flipV="0">
            <a:off x="1412147" y="2791546"/>
            <a:ext cx="9074091" cy="3841757"/>
          </a:xfrm>
          <a:prstGeom prst="rect"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2"/>
          <p:cNvSpPr>
            <a:spLocks noGrp="1"/>
          </p:cNvSpPr>
          <p:nvPr/>
        </p:nvSpPr>
        <p:spPr>
          <a:xfrm>
            <a:off x="595856" y="1074213"/>
            <a:ext cx="9240520" cy="7214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rPr>
                <a:solidFill>
                  <a:srgbClr val="006659"/>
                </a:solidFill>
              </a:rPr>
              <a:t>05 创作：先素材包，再生成初稿</a:t>
            </a:r>
            <a:endParaRPr>
              <a:solidFill>
                <a:srgbClr val="006659"/>
              </a:solidFill>
            </a:endParaRPr>
          </a:p>
        </p:txBody>
      </p:sp>
      <p:sp>
        <p:nvSpPr>
          <p:cNvPr id="42" name="文本框 8"/>
          <p:cNvSpPr>
            <a:spLocks noGrp="1"/>
          </p:cNvSpPr>
          <p:nvPr/>
        </p:nvSpPr>
        <p:spPr>
          <a:xfrm>
            <a:off x="914400" y="2095500"/>
            <a:ext cx="103632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rPr>
                <a:solidFill>
                  <a:srgbClr val="8B5A00"/>
                </a:solidFill>
              </a:rPr>
              <a:t>输入：选题 + 素材 + 规律 + 本人判断</a:t>
            </a:r>
            <a:endParaRPr>
              <a:solidFill>
                <a:srgbClr val="8B5A00"/>
              </a:solidFill>
            </a:endParaRPr>
          </a:p>
        </p:txBody>
      </p:sp>
      <p:pic>
        <p:nvPicPr>
          <p:cNvPr id="43" name=""/>
          <p:cNvPicPr>
            <a:picLocks noChangeAspect="1"/>
          </p:cNvPicPr>
          <p:nvPr/>
        </p:nvPicPr>
        <p:blipFill>
          <a:blip r:embed=""/>
          <a:stretch>
            <a:fillRect/>
          </a:stretch>
        </p:blipFill>
        <p:spPr>
          <a:xfrm rot="0" flipH="0" flipV="0">
            <a:off x="824918" y="3032271"/>
            <a:ext cx="9752486" cy="3392729"/>
          </a:xfrm>
          <a:prstGeom prst="rect"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 2"/>
          <p:cNvSpPr>
            <a:spLocks noGrp="1"/>
          </p:cNvSpPr>
          <p:nvPr/>
        </p:nvSpPr>
        <p:spPr>
          <a:xfrm>
            <a:off x="595856" y="1073578"/>
            <a:ext cx="9240520" cy="7214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rPr lang="zh-CN">
                <a:solidFill>
                  <a:srgbClr val="006659"/>
                </a:solidFill>
              </a:rPr>
              <a:t>06 复盘：让真实数据告诉你什么有效</a:t>
            </a:r>
            <a:endParaRPr>
              <a:solidFill>
                <a:srgbClr val="006659"/>
              </a:solidFill>
            </a:endParaRPr>
          </a:p>
        </p:txBody>
      </p:sp>
      <p:sp>
        <p:nvSpPr>
          <p:cNvPr id="46" name=""/>
          <p:cNvSpPr/>
          <p:nvPr/>
        </p:nvSpPr>
        <p:spPr>
          <a:xfrm>
            <a:off x="596900" y="1905000"/>
            <a:ext cx="10998200" cy="317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8B5A00"/>
                </a:solidFill>
              </a:rPr>
              <a:t>不靠感觉，靠数据。定期复盘才能发现规律。</a:t>
            </a:r>
            <a:endParaRPr/>
          </a:p>
        </p:txBody>
      </p:sp>
      <p:sp>
        <p:nvSpPr>
          <p:cNvPr id="47" name=""/>
          <p:cNvSpPr/>
          <p:nvPr/>
        </p:nvSpPr>
        <p:spPr>
          <a:xfrm>
            <a:off x="596900" y="2476500"/>
            <a:ext cx="5080000" cy="3810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333333"/>
                </a:solidFill>
              </a:rPr>
              <a:t>为什么要复盘？
不复盘：每篇内容都是猜。
不知道开头怎么写、封面用什么、
选题选哪个，全凭感觉。
复盘了：数据会直接告诉你
哪些做法有效，哪些没用。
AI 可以定时帮你梳理发布数据，
但你来做最终判断：
什么值得继续，什么需要调整。</a:t>
            </a:r>
            <a:endParaRPr/>
          </a:p>
        </p:txBody>
      </p:sp>
      <p:sp>
        <p:nvSpPr>
          <p:cNvPr id="48" name=""/>
          <p:cNvSpPr/>
          <p:nvPr/>
        </p:nvSpPr>
        <p:spPr>
          <a:xfrm>
            <a:off x="6096000" y="2413000"/>
            <a:ext cx="5499100" cy="3937000"/>
          </a:xfrm>
          <a:prstGeom prst="roundRect">
            <a:avLst>
              <a:gd name="adj" fmla="val 4376"/>
            </a:avLst>
          </a:prstGeom>
          <a:solidFill>
            <a:srgbClr val="F0F6F3"/>
          </a:solidFill>
          <a:ln w="25400">
            <a:solidFill>
              <a:srgbClr val="00665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" name=""/>
          <p:cNvSpPr/>
          <p:nvPr/>
        </p:nvSpPr>
        <p:spPr>
          <a:xfrm>
            <a:off x="6350000" y="2603500"/>
            <a:ext cx="49911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800">
                <a:solidFill>
                  <a:srgbClr val="006659"/>
                </a:solidFill>
              </a:rPr>
              <a:t>复盘能发现什么？</a:t>
            </a:r>
            <a:endParaRPr/>
          </a:p>
        </p:txBody>
      </p:sp>
      <p:sp>
        <p:nvSpPr>
          <p:cNvPr id="50" name=""/>
          <p:cNvSpPr/>
          <p:nvPr/>
        </p:nvSpPr>
        <p:spPr>
          <a:xfrm>
            <a:off x="6350000" y="3111500"/>
            <a:ext cx="4991100" cy="317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333333"/>
                </a:solidFill>
              </a:rPr>
              <a:t>定期查看数据，才能得出这些结论：
· 什么样的开头更受粉丝欢迎
· 什么样的封面点击率更高
· 哪个选题方向互动更多
· 什么时间段发布效果最好
· 哪些规律真的有效，哪些是运气
这些不是一次就能看出来的，
是发了几篇以后，对比数据，
慢慢发现的。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本框 2"/>
          <p:cNvSpPr>
            <a:spLocks noGrp="1"/>
          </p:cNvSpPr>
          <p:nvPr/>
        </p:nvSpPr>
        <p:spPr>
          <a:xfrm>
            <a:off x="595856" y="1074213"/>
            <a:ext cx="9240520" cy="7214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rPr>
                <a:solidFill>
                  <a:srgbClr val="006659"/>
                </a:solidFill>
              </a:rPr>
              <a:t>完整闭环的价值，是持续留下资产</a:t>
            </a:r>
            <a:endParaRPr>
              <a:solidFill>
                <a:srgbClr val="006659"/>
              </a:solidFill>
            </a:endParaRPr>
          </a:p>
        </p:txBody>
      </p:sp>
      <p:sp>
        <p:nvSpPr>
          <p:cNvPr id="53" name="文本框 8"/>
          <p:cNvSpPr>
            <a:spLocks noGrp="1"/>
          </p:cNvSpPr>
          <p:nvPr/>
        </p:nvSpPr>
        <p:spPr>
          <a:xfrm>
            <a:off x="914400" y="2095500"/>
            <a:ext cx="103632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rPr>
                <a:solidFill>
                  <a:srgbClr val="8B5A00"/>
                </a:solidFill>
              </a:rPr>
              <a:t>下一篇不再从空白对话开始</a:t>
            </a:r>
            <a:endParaRPr>
              <a:solidFill>
                <a:srgbClr val="8B5A00"/>
              </a:solidFill>
            </a:endParaRPr>
          </a:p>
        </p:txBody>
      </p:sp>
      <p:sp>
        <p:nvSpPr>
          <p:cNvPr id="54" name="文本框 9"/>
          <p:cNvSpPr>
            <a:spLocks noGrp="1"/>
          </p:cNvSpPr>
          <p:nvPr/>
        </p:nvSpPr>
        <p:spPr>
          <a:xfrm>
            <a:off x="914400" y="3286125"/>
            <a:ext cx="103632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200000"/>
              </a:lnSpc>
              <a:buFont typeface="Wingdings" panose="05000000000000000000"/>
              <a:buNone/>
            </a:pPr>
            <a:r>
              <a:rPr>
                <a:solidFill>
                  <a:srgbClr val="111111"/>
                </a:solidFill>
              </a:rPr>
              <a:t>素材越来越完整｜判断越来越清楚｜Skill 越来越稳定</a:t>
            </a:r>
            <a:endParaRPr>
              <a:solidFill>
                <a:srgbClr val="111111"/>
              </a:solidFill>
            </a:endParaRPr>
          </a:p>
          <a:p>
            <a:pPr indent="0" algn="l">
              <a:lnSpc>
                <a:spcPct val="200000"/>
              </a:lnSpc>
              <a:buFont typeface="Wingdings" panose="05000000000000000000"/>
              <a:buNone/>
            </a:pPr>
            <a:r>
              <a:rPr>
                <a:solidFill>
                  <a:srgbClr val="111111"/>
                </a:solidFill>
              </a:rPr>
              <a:t>系统会随着真实创作和反馈继续生长。</a:t>
            </a:r>
            <a:endParaRPr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2"/>
          <p:cNvSpPr>
            <a:spLocks noGrp="1"/>
          </p:cNvSpPr>
          <p:nvPr/>
        </p:nvSpPr>
        <p:spPr>
          <a:xfrm>
            <a:off x="1976784" y="2674237"/>
            <a:ext cx="2868586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3600" b="1">
                <a:solidFill>
                  <a:srgbClr val="006659"/>
                </a:solidFill>
                <a:latin typeface="Source Han Serif CN"/>
                <a:ea typeface="Source Han Serif CN"/>
                <a:cs typeface="Source Han Serif CN"/>
              </a:rPr>
              <a:t>05</a:t>
            </a:r>
            <a:endParaRPr sz="3600" b="1">
              <a:solidFill>
                <a:srgbClr val="006659"/>
              </a:solidFill>
              <a:latin typeface="Source Han Serif CN"/>
              <a:ea typeface="Source Han Serif CN"/>
              <a:cs typeface="Source Han Serif CN"/>
            </a:endParaRPr>
          </a:p>
        </p:txBody>
      </p:sp>
      <p:sp>
        <p:nvSpPr>
          <p:cNvPr id="57" name="文本框 1"/>
          <p:cNvSpPr>
            <a:spLocks noGrp="1"/>
          </p:cNvSpPr>
          <p:nvPr/>
        </p:nvSpPr>
        <p:spPr>
          <a:xfrm>
            <a:off x="4356972" y="2751749"/>
            <a:ext cx="6477000" cy="73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/>
              <a:t>常见问题与后续方向</a:t>
            </a:r>
            <a:endParaRPr/>
          </a:p>
        </p:txBody>
      </p:sp>
      <p:sp>
        <p:nvSpPr>
          <p:cNvPr id="58" name="直线连接符 6"/>
          <p:cNvSpPr>
            <a:spLocks noGrp="1"/>
          </p:cNvSpPr>
          <p:nvPr/>
        </p:nvSpPr>
        <p:spPr>
          <a:xfrm>
            <a:off x="3940438" y="2798647"/>
            <a:ext cx="0" cy="634042"/>
          </a:xfrm>
          <a:prstGeom prst="line">
            <a:avLst/>
          </a:prstGeom>
          <a:ln w="38100">
            <a:solidFill>
              <a:srgbClr val="0066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>
            <a:pPr/>
            <a:endParaRPr/>
          </a:p>
        </p:txBody>
      </p:sp>
      <p:pic>
        <p:nvPicPr>
          <p:cNvPr id="59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755763">
            <a:off x="1461703" y="2324065"/>
            <a:ext cx="2271865" cy="18079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2"/>
          <p:cNvSpPr>
            <a:spLocks noGrp="1"/>
          </p:cNvSpPr>
          <p:nvPr/>
        </p:nvSpPr>
        <p:spPr>
          <a:xfrm>
            <a:off x="595856" y="1073578"/>
            <a:ext cx="9240520" cy="7214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rPr lang="zh-CN">
                <a:solidFill>
                  <a:srgbClr val="006659"/>
                </a:solidFill>
              </a:rPr>
              <a:t>不做 AI 科普可以吗？可以！</a:t>
            </a:r>
            <a:endParaRPr>
              <a:solidFill>
                <a:srgbClr val="006659"/>
              </a:solidFill>
            </a:endParaRPr>
          </a:p>
        </p:txBody>
      </p:sp>
      <p:sp>
        <p:nvSpPr>
          <p:cNvPr id="62" name=""/>
          <p:cNvSpPr/>
          <p:nvPr/>
        </p:nvSpPr>
        <p:spPr>
          <a:xfrm>
            <a:off x="596900" y="2032000"/>
            <a:ext cx="5207000" cy="3937000"/>
          </a:xfrm>
          <a:prstGeom prst="roundRect">
            <a:avLst>
              <a:gd name="adj" fmla="val 4376"/>
            </a:avLst>
          </a:prstGeom>
          <a:solidFill>
            <a:srgbClr val="F0F6F3"/>
          </a:solidFill>
          <a:ln w="25400">
            <a:solidFill>
              <a:srgbClr val="00665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3" name=""/>
          <p:cNvSpPr/>
          <p:nvPr/>
        </p:nvSpPr>
        <p:spPr>
          <a:xfrm>
            <a:off x="6350000" y="2032000"/>
            <a:ext cx="5207000" cy="3937000"/>
          </a:xfrm>
          <a:prstGeom prst="roundRect">
            <a:avLst>
              <a:gd name="adj" fmla="val 4376"/>
            </a:avLst>
          </a:prstGeom>
          <a:solidFill>
            <a:srgbClr val="FFF3E0"/>
          </a:solidFill>
          <a:ln w="25400">
            <a:solidFill>
              <a:srgbClr val="E6510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4" name=""/>
          <p:cNvSpPr/>
          <p:nvPr/>
        </p:nvSpPr>
        <p:spPr>
          <a:xfrm>
            <a:off x="889000" y="218440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800">
                <a:solidFill>
                  <a:srgbClr val="006659"/>
                </a:solidFill>
              </a:rPr>
              <a:t>没有方向？推荐 AI 科普</a:t>
            </a:r>
            <a:endParaRPr/>
          </a:p>
        </p:txBody>
      </p:sp>
      <p:sp>
        <p:nvSpPr>
          <p:cNvPr id="65" name=""/>
          <p:cNvSpPr/>
          <p:nvPr/>
        </p:nvSpPr>
        <p:spPr>
          <a:xfrm>
            <a:off x="889000" y="2692400"/>
            <a:ext cx="4572000" cy="304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333333"/>
                </a:solidFill>
              </a:rPr>
              <a:t>如果你暂时没有业务方向，
不知道做什么，推荐先做 AI 科普。
实测下来，AI 科普比较容易
拿到结果，甚至能赚到钱。
资料搜集、事实核查、
大白话解释、结构组织——
这些都是做任何内容的基础能力。
先用 AI 科普跑通流程，
理解以后再迁移到自己的方向。</a:t>
            </a:r>
            <a:endParaRPr/>
          </a:p>
        </p:txBody>
      </p:sp>
      <p:sp>
        <p:nvSpPr>
          <p:cNvPr id="66" name=""/>
          <p:cNvSpPr/>
          <p:nvPr/>
        </p:nvSpPr>
        <p:spPr>
          <a:xfrm>
            <a:off x="6642100" y="218440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800">
                <a:solidFill>
                  <a:srgbClr val="E65100"/>
                </a:solidFill>
              </a:rPr>
              <a:t>有业务？搭建自己的工作流</a:t>
            </a:r>
            <a:endParaRPr/>
          </a:p>
        </p:txBody>
      </p:sp>
      <p:sp>
        <p:nvSpPr>
          <p:cNvPr id="67" name=""/>
          <p:cNvSpPr/>
          <p:nvPr/>
        </p:nvSpPr>
        <p:spPr>
          <a:xfrm>
            <a:off x="6642100" y="2692400"/>
            <a:ext cx="4572000" cy="304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333333"/>
                </a:solidFill>
              </a:rPr>
              <a:t>如果你有自己的业务和方向，
完全可以用同样的方法搭建
自己业务的 AI 内容创作工作流。
需要重设的只有三件事：
· 你的定位是什么
· 你的目标客户是谁
· 你的内容创作方法
工作流骨架是一样的，
方法都是通用的。</a:t>
            </a:r>
            <a:endParaRPr lang="zh-CN" sz="1400">
              <a:solidFill>
                <a:srgbClr val="333333"/>
              </a:solidFill>
            </a:endParaRPr>
          </a:p>
        </p:txBody>
      </p:sp>
      <p:sp>
        <p:nvSpPr>
          <p:cNvPr id="68" name=""/>
          <p:cNvSpPr/>
          <p:nvPr/>
        </p:nvSpPr>
        <p:spPr>
          <a:xfrm>
            <a:off x="596900" y="6286500"/>
            <a:ext cx="10998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8B5A00"/>
                </a:solidFill>
              </a:rPr>
              <a:t>本期重点是跑通一整条工作流闭环。AI 科普只是统一练手案例，不是长期限制。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文本框 2"/>
          <p:cNvSpPr>
            <a:spLocks noGrp="1"/>
          </p:cNvSpPr>
          <p:nvPr/>
        </p:nvSpPr>
        <p:spPr>
          <a:xfrm>
            <a:off x="595856" y="1074213"/>
            <a:ext cx="9240520" cy="7214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rPr>
                <a:solidFill>
                  <a:srgbClr val="006659"/>
                </a:solidFill>
              </a:rPr>
              <a:t>为什么统一使用 AI 科普练手？</a:t>
            </a:r>
            <a:endParaRPr>
              <a:solidFill>
                <a:srgbClr val="006659"/>
              </a:solidFill>
            </a:endParaRPr>
          </a:p>
        </p:txBody>
      </p:sp>
      <p:sp>
        <p:nvSpPr>
          <p:cNvPr id="71" name="文本框 8"/>
          <p:cNvSpPr>
            <a:spLocks noGrp="1"/>
          </p:cNvSpPr>
          <p:nvPr/>
        </p:nvSpPr>
        <p:spPr>
          <a:xfrm>
            <a:off x="914400" y="2095500"/>
            <a:ext cx="103632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rPr>
                <a:solidFill>
                  <a:srgbClr val="8B5A00"/>
                </a:solidFill>
              </a:rPr>
              <a:t>减少变量，先练基础能力</a:t>
            </a:r>
            <a:endParaRPr>
              <a:solidFill>
                <a:srgbClr val="8B5A00"/>
              </a:solidFill>
            </a:endParaRPr>
          </a:p>
        </p:txBody>
      </p:sp>
      <p:sp>
        <p:nvSpPr>
          <p:cNvPr id="72" name="文本框 9"/>
          <p:cNvSpPr>
            <a:spLocks noGrp="1"/>
          </p:cNvSpPr>
          <p:nvPr/>
        </p:nvSpPr>
        <p:spPr>
          <a:xfrm>
            <a:off x="914400" y="3286125"/>
            <a:ext cx="10363200" cy="1187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200000"/>
              </a:lnSpc>
              <a:buFont typeface="Wingdings" panose="05000000000000000000"/>
              <a:buNone/>
            </a:pPr>
            <a:r>
              <a:rPr>
                <a:solidFill>
                  <a:srgbClr val="111111">
                    <a:alpha val="100000"/>
                  </a:srgbClr>
                </a:solidFill>
              </a:rPr>
              <a:t>资料搜集｜事实核查｜大白话解释｜结构组织</a:t>
            </a:r>
            <a:r>
              <a:rPr lang="zh-CN">
                <a:solidFill>
                  <a:srgbClr val="111111">
                    <a:alpha val="100000"/>
                  </a:srgbClr>
                </a:solidFill>
              </a:rPr>
              <a:t>｜视频拍摄剪辑</a:t>
            </a:r>
            <a:endParaRPr/>
          </a:p>
          <a:p>
            <a:pPr indent="0" algn="l">
              <a:lnSpc>
                <a:spcPct val="200000"/>
              </a:lnSpc>
              <a:buFont typeface="Wingdings" panose="05000000000000000000"/>
              <a:buNone/>
            </a:pPr>
            <a:r>
              <a:rPr>
                <a:solidFill>
                  <a:srgbClr val="111111">
                    <a:alpha val="100000"/>
                  </a:srgbClr>
                </a:solidFill>
              </a:rPr>
              <a:t>AI 科普是训练场，不是长期限制。</a:t>
            </a:r>
            <a:endParaRPr>
              <a:solidFill>
                <a:srgbClr val="111111">
                  <a:alpha val="100000"/>
                </a:srgb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文本框 2"/>
          <p:cNvSpPr>
            <a:spLocks noGrp="1"/>
          </p:cNvSpPr>
          <p:nvPr/>
        </p:nvSpPr>
        <p:spPr>
          <a:xfrm>
            <a:off x="595856" y="1074213"/>
            <a:ext cx="9240520" cy="7214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rPr>
                <a:solidFill>
                  <a:srgbClr val="006659"/>
                </a:solidFill>
              </a:rPr>
              <a:t>跑通流程，不等于自动生成优质内容</a:t>
            </a:r>
            <a:endParaRPr>
              <a:solidFill>
                <a:srgbClr val="006659"/>
              </a:solidFill>
            </a:endParaRPr>
          </a:p>
        </p:txBody>
      </p:sp>
      <p:sp>
        <p:nvSpPr>
          <p:cNvPr id="79" name="文本框 8"/>
          <p:cNvSpPr>
            <a:spLocks noGrp="1"/>
          </p:cNvSpPr>
          <p:nvPr/>
        </p:nvSpPr>
        <p:spPr>
          <a:xfrm>
            <a:off x="914400" y="2095500"/>
            <a:ext cx="103632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rPr>
                <a:solidFill>
                  <a:srgbClr val="8B5A00"/>
                </a:solidFill>
              </a:rPr>
              <a:t>更不等于自动生成爆款</a:t>
            </a:r>
            <a:endParaRPr>
              <a:solidFill>
                <a:srgbClr val="8B5A00"/>
              </a:solidFill>
            </a:endParaRPr>
          </a:p>
        </p:txBody>
      </p:sp>
      <p:sp>
        <p:nvSpPr>
          <p:cNvPr id="80" name="文本框 9"/>
          <p:cNvSpPr>
            <a:spLocks noGrp="1"/>
          </p:cNvSpPr>
          <p:nvPr/>
        </p:nvSpPr>
        <p:spPr>
          <a:xfrm>
            <a:off x="914400" y="3286125"/>
            <a:ext cx="103632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200000"/>
              </a:lnSpc>
              <a:buFont typeface="Wingdings" panose="05000000000000000000"/>
              <a:buNone/>
            </a:pPr>
            <a:r>
              <a:rPr>
                <a:solidFill>
                  <a:srgbClr val="111111"/>
                </a:solidFill>
              </a:rPr>
              <a:t>AI：读取、整理、比较、生成候选。</a:t>
            </a:r>
            <a:endParaRPr>
              <a:solidFill>
                <a:srgbClr val="111111"/>
              </a:solidFill>
            </a:endParaRPr>
          </a:p>
          <a:p>
            <a:pPr indent="0" algn="l">
              <a:lnSpc>
                <a:spcPct val="200000"/>
              </a:lnSpc>
              <a:buFont typeface="Wingdings" panose="05000000000000000000"/>
              <a:buNone/>
            </a:pPr>
            <a:r>
              <a:rPr>
                <a:solidFill>
                  <a:srgbClr val="111111"/>
                </a:solidFill>
              </a:rPr>
              <a:t>人：真实性、判断、取舍和最终确认。</a:t>
            </a:r>
            <a:endParaRPr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文本框 2"/>
          <p:cNvSpPr>
            <a:spLocks noGrp="1"/>
          </p:cNvSpPr>
          <p:nvPr/>
        </p:nvSpPr>
        <p:spPr>
          <a:xfrm>
            <a:off x="595856" y="1073578"/>
            <a:ext cx="9240520" cy="7214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rPr>
                <a:solidFill>
                  <a:srgbClr val="006659"/>
                </a:solidFill>
              </a:rPr>
              <a:t>本期目标不是自动化内容工厂</a:t>
            </a:r>
            <a:endParaRPr>
              <a:solidFill>
                <a:srgbClr val="006659"/>
              </a:solidFill>
            </a:endParaRPr>
          </a:p>
        </p:txBody>
      </p:sp>
      <p:sp>
        <p:nvSpPr>
          <p:cNvPr id="83" name="文本框 8"/>
          <p:cNvSpPr>
            <a:spLocks noGrp="1"/>
          </p:cNvSpPr>
          <p:nvPr/>
        </p:nvSpPr>
        <p:spPr>
          <a:xfrm>
            <a:off x="914400" y="2095500"/>
            <a:ext cx="103632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lnSpc>
                <a:spcPct val="130000"/>
              </a:lnSpc>
              <a:buNone/>
              <a:defRPr sz="3180" b="1">
                <a:gradFill>
                  <a:gsLst>
                    <a:gs pos="0">
                      <a:srgbClr val="F4E8DD"/>
                    </a:gs>
                    <a:gs pos="100000">
                      <a:srgbClr val="F1BE70"/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rPr>
                <a:solidFill>
                  <a:srgbClr val="8B5A00"/>
                </a:solidFill>
              </a:rPr>
              <a:t>先跑通一条真实、可靠、可复用的流程</a:t>
            </a:r>
            <a:endParaRPr>
              <a:solidFill>
                <a:srgbClr val="8B5A00"/>
              </a:solidFill>
            </a:endParaRPr>
          </a:p>
        </p:txBody>
      </p:sp>
      <p:sp>
        <p:nvSpPr>
          <p:cNvPr id="84" name="文本框 9"/>
          <p:cNvSpPr>
            <a:spLocks noGrp="1"/>
          </p:cNvSpPr>
          <p:nvPr/>
        </p:nvSpPr>
        <p:spPr>
          <a:xfrm>
            <a:off x="914400" y="3286125"/>
            <a:ext cx="103632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200000"/>
              </a:lnSpc>
              <a:buFont typeface="Wingdings" panose="05000000000000000000"/>
              <a:buNone/>
            </a:pPr>
            <a:r>
              <a:rPr>
                <a:solidFill>
                  <a:srgbClr val="111111"/>
                </a:solidFill>
              </a:rPr>
              <a:t>自动整理素材、批量素材包、图文或视频生成，可以后续再串联。</a:t>
            </a:r>
            <a:endParaRPr>
              <a:solidFill>
                <a:srgbClr val="111111"/>
              </a:solidFill>
            </a:endParaRPr>
          </a:p>
          <a:p>
            <a:pPr indent="0" algn="l">
              <a:lnSpc>
                <a:spcPct val="200000"/>
              </a:lnSpc>
              <a:buFont typeface="Wingdings" panose="05000000000000000000"/>
              <a:buNone/>
            </a:pPr>
            <a:r>
              <a:rPr>
                <a:solidFill>
                  <a:srgbClr val="111111"/>
                </a:solidFill>
              </a:rPr>
              <a:t>跑通流程 ≠ 自动优质 ≠ 自动爆款。</a:t>
            </a:r>
            <a:endParaRPr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标题 1"/>
          <p:cNvSpPr>
            <a:spLocks noGrp="1"/>
          </p:cNvSpPr>
          <p:nvPr/>
        </p:nvSpPr>
        <p:spPr>
          <a:xfrm>
            <a:off x="2279822" y="2727754"/>
            <a:ext cx="7904205" cy="1402492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 algn="l" defTabSz="914400">
              <a:lnSpc>
                <a:spcPct val="90000"/>
              </a:lnSpc>
              <a:spcBef>
                <a:spcPct val="1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zh-CN" sz="8800">
                <a:solidFill>
                  <a:srgbClr val="006659">
                    <a:alpha val="100000"/>
                  </a:srgbClr>
                </a:solidFill>
                <a:latin typeface="Source Han Sans SC Bold"/>
                <a:ea typeface="Source Han Sans SC Bold"/>
                <a:cs typeface="Source Han Sans SC Bold"/>
              </a:rPr>
              <a:t>一起生财有术！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2026-08-07T10:44:45Z</dcterms:created>
  <dcterms:modified xsi:type="dcterms:W3CDTF">2026-08-07T10:44:45Z</dcterms:modified>
</cp:coreProperties>
</file>